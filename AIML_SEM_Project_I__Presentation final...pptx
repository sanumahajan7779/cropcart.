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1" r:id="rId4"/>
    <p:sldId id="260" r:id="rId5"/>
    <p:sldId id="262" r:id="rId6"/>
    <p:sldId id="263" r:id="rId7"/>
    <p:sldId id="264" r:id="rId8"/>
    <p:sldId id="265" r:id="rId9"/>
    <p:sldId id="266" r:id="rId10"/>
    <p:sldId id="272" r:id="rId11"/>
    <p:sldId id="273" r:id="rId12"/>
    <p:sldId id="274" r:id="rId13"/>
    <p:sldId id="275" r:id="rId14"/>
    <p:sldId id="267" r:id="rId15"/>
    <p:sldId id="269" r:id="rId16"/>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968" autoAdjust="0"/>
    <p:restoredTop sz="94660"/>
  </p:normalViewPr>
  <p:slideViewPr>
    <p:cSldViewPr snapToGrid="0">
      <p:cViewPr varScale="1">
        <p:scale>
          <a:sx n="82" d="100"/>
          <a:sy n="82" d="100"/>
        </p:scale>
        <p:origin x="99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F40FB9A-A01F-4D0B-B92B-B4BF3E327EAE}"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E2A06E-FD01-4319-9BA2-A5A831CBF123}" type="slidenum">
              <a:rPr lang="en-US" smtClean="0"/>
              <a:t>‹#›</a:t>
            </a:fld>
            <a:endParaRPr lang="en-US"/>
          </a:p>
        </p:txBody>
      </p:sp>
    </p:spTree>
    <p:extLst>
      <p:ext uri="{BB962C8B-B14F-4D97-AF65-F5344CB8AC3E}">
        <p14:creationId xmlns:p14="http://schemas.microsoft.com/office/powerpoint/2010/main" val="1644963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40FB9A-A01F-4D0B-B92B-B4BF3E327EAE}"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E2A06E-FD01-4319-9BA2-A5A831CBF123}" type="slidenum">
              <a:rPr lang="en-US" smtClean="0"/>
              <a:t>‹#›</a:t>
            </a:fld>
            <a:endParaRPr lang="en-US"/>
          </a:p>
        </p:txBody>
      </p:sp>
    </p:spTree>
    <p:extLst>
      <p:ext uri="{BB962C8B-B14F-4D97-AF65-F5344CB8AC3E}">
        <p14:creationId xmlns:p14="http://schemas.microsoft.com/office/powerpoint/2010/main" val="1738154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40FB9A-A01F-4D0B-B92B-B4BF3E327EAE}"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E2A06E-FD01-4319-9BA2-A5A831CBF123}" type="slidenum">
              <a:rPr lang="en-US" smtClean="0"/>
              <a:t>‹#›</a:t>
            </a:fld>
            <a:endParaRPr lang="en-US"/>
          </a:p>
        </p:txBody>
      </p:sp>
    </p:spTree>
    <p:extLst>
      <p:ext uri="{BB962C8B-B14F-4D97-AF65-F5344CB8AC3E}">
        <p14:creationId xmlns:p14="http://schemas.microsoft.com/office/powerpoint/2010/main" val="18856561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40FB9A-A01F-4D0B-B92B-B4BF3E327EAE}"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E2A06E-FD01-4319-9BA2-A5A831CBF123}" type="slidenum">
              <a:rPr lang="en-US" smtClean="0"/>
              <a:t>‹#›</a:t>
            </a:fld>
            <a:endParaRPr lang="en-US"/>
          </a:p>
        </p:txBody>
      </p:sp>
    </p:spTree>
    <p:extLst>
      <p:ext uri="{BB962C8B-B14F-4D97-AF65-F5344CB8AC3E}">
        <p14:creationId xmlns:p14="http://schemas.microsoft.com/office/powerpoint/2010/main" val="26345858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F40FB9A-A01F-4D0B-B92B-B4BF3E327EAE}" type="datetimeFigureOut">
              <a:rPr lang="en-US" smtClean="0"/>
              <a:t>12/28/2025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E2A06E-FD01-4319-9BA2-A5A831CBF123}" type="slidenum">
              <a:rPr lang="en-US" smtClean="0"/>
              <a:t>‹#›</a:t>
            </a:fld>
            <a:endParaRPr lang="en-US"/>
          </a:p>
        </p:txBody>
      </p:sp>
    </p:spTree>
    <p:extLst>
      <p:ext uri="{BB962C8B-B14F-4D97-AF65-F5344CB8AC3E}">
        <p14:creationId xmlns:p14="http://schemas.microsoft.com/office/powerpoint/2010/main" val="3825387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F40FB9A-A01F-4D0B-B92B-B4BF3E327EAE}" type="datetimeFigureOut">
              <a:rPr lang="en-US" smtClean="0"/>
              <a:t>12/28/2025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E2A06E-FD01-4319-9BA2-A5A831CBF123}" type="slidenum">
              <a:rPr lang="en-US" smtClean="0"/>
              <a:t>‹#›</a:t>
            </a:fld>
            <a:endParaRPr lang="en-US"/>
          </a:p>
        </p:txBody>
      </p:sp>
    </p:spTree>
    <p:extLst>
      <p:ext uri="{BB962C8B-B14F-4D97-AF65-F5344CB8AC3E}">
        <p14:creationId xmlns:p14="http://schemas.microsoft.com/office/powerpoint/2010/main" val="343162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40FB9A-A01F-4D0B-B92B-B4BF3E327EAE}" type="datetimeFigureOut">
              <a:rPr lang="en-US" smtClean="0"/>
              <a:t>12/28/2025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E2A06E-FD01-4319-9BA2-A5A831CBF123}" type="slidenum">
              <a:rPr lang="en-US" smtClean="0"/>
              <a:t>‹#›</a:t>
            </a:fld>
            <a:endParaRPr lang="en-US"/>
          </a:p>
        </p:txBody>
      </p:sp>
    </p:spTree>
    <p:extLst>
      <p:ext uri="{BB962C8B-B14F-4D97-AF65-F5344CB8AC3E}">
        <p14:creationId xmlns:p14="http://schemas.microsoft.com/office/powerpoint/2010/main" val="1187722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F40FB9A-A01F-4D0B-B92B-B4BF3E327EAE}"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E2A06E-FD01-4319-9BA2-A5A831CBF123}" type="slidenum">
              <a:rPr lang="en-US" smtClean="0"/>
              <a:t>‹#›</a:t>
            </a:fld>
            <a:endParaRPr lang="en-US"/>
          </a:p>
        </p:txBody>
      </p:sp>
    </p:spTree>
    <p:extLst>
      <p:ext uri="{BB962C8B-B14F-4D97-AF65-F5344CB8AC3E}">
        <p14:creationId xmlns:p14="http://schemas.microsoft.com/office/powerpoint/2010/main" val="32694504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F40FB9A-A01F-4D0B-B92B-B4BF3E327EAE}" type="datetimeFigureOut">
              <a:rPr lang="en-US" smtClean="0"/>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E2A06E-FD01-4319-9BA2-A5A831CBF123}" type="slidenum">
              <a:rPr lang="en-US" smtClean="0"/>
              <a:t>‹#›</a:t>
            </a:fld>
            <a:endParaRPr lang="en-US"/>
          </a:p>
        </p:txBody>
      </p:sp>
    </p:spTree>
    <p:extLst>
      <p:ext uri="{BB962C8B-B14F-4D97-AF65-F5344CB8AC3E}">
        <p14:creationId xmlns:p14="http://schemas.microsoft.com/office/powerpoint/2010/main" val="2024690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40FB9A-A01F-4D0B-B92B-B4BF3E327EAE}"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E2A06E-FD01-4319-9BA2-A5A831CBF123}" type="slidenum">
              <a:rPr lang="en-US" smtClean="0"/>
              <a:t>‹#›</a:t>
            </a:fld>
            <a:endParaRPr lang="en-US"/>
          </a:p>
        </p:txBody>
      </p:sp>
    </p:spTree>
    <p:extLst>
      <p:ext uri="{BB962C8B-B14F-4D97-AF65-F5344CB8AC3E}">
        <p14:creationId xmlns:p14="http://schemas.microsoft.com/office/powerpoint/2010/main" val="1341825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40FB9A-A01F-4D0B-B92B-B4BF3E327EAE}" type="datetimeFigureOut">
              <a:rPr lang="en-US" smtClean="0"/>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E2A06E-FD01-4319-9BA2-A5A831CBF123}" type="slidenum">
              <a:rPr lang="en-US" smtClean="0"/>
              <a:t>‹#›</a:t>
            </a:fld>
            <a:endParaRPr lang="en-US"/>
          </a:p>
        </p:txBody>
      </p:sp>
    </p:spTree>
    <p:extLst>
      <p:ext uri="{BB962C8B-B14F-4D97-AF65-F5344CB8AC3E}">
        <p14:creationId xmlns:p14="http://schemas.microsoft.com/office/powerpoint/2010/main" val="35411986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F40FB9A-A01F-4D0B-B92B-B4BF3E327EAE}" type="datetimeFigureOut">
              <a:rPr lang="en-US" smtClean="0"/>
              <a:t>12/28/2025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E2A06E-FD01-4319-9BA2-A5A831CBF123}" type="slidenum">
              <a:rPr lang="en-US" smtClean="0"/>
              <a:t>‹#›</a:t>
            </a:fld>
            <a:endParaRPr lang="en-US"/>
          </a:p>
        </p:txBody>
      </p:sp>
    </p:spTree>
    <p:extLst>
      <p:ext uri="{BB962C8B-B14F-4D97-AF65-F5344CB8AC3E}">
        <p14:creationId xmlns:p14="http://schemas.microsoft.com/office/powerpoint/2010/main" val="230086733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ChangeArrowheads="1"/>
          </p:cNvSpPr>
          <p:nvPr/>
        </p:nvSpPr>
        <p:spPr bwMode="auto">
          <a:xfrm>
            <a:off x="0" y="183690"/>
            <a:ext cx="11702385"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indent="4572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indent="457200" algn="ctr">
              <a:lnSpc>
                <a:spcPct val="100000"/>
              </a:lnSpc>
              <a:spcBef>
                <a:spcPct val="0"/>
              </a:spcBef>
              <a:spcAft>
                <a:spcPct val="0"/>
              </a:spcAft>
              <a:buNone/>
            </a:pPr>
            <a:r>
              <a:rPr sz="2800" b="1" cap="none" baseline="0" dirty="0">
                <a:solidFill>
                  <a:srgbClr val="993300"/>
                </a:solidFill>
                <a:latin typeface="Cambria"/>
              </a:rPr>
              <a:t>     Semester</a:t>
            </a:r>
            <a:r>
              <a:rPr sz="2800" b="1" cap="none" dirty="0">
                <a:solidFill>
                  <a:srgbClr val="993300"/>
                </a:solidFill>
                <a:latin typeface="Cambria"/>
              </a:rPr>
              <a:t> Project - I</a:t>
            </a:r>
            <a:r>
              <a:rPr sz="2800" b="1" cap="none" baseline="0" dirty="0">
                <a:solidFill>
                  <a:srgbClr val="993300"/>
                </a:solidFill>
                <a:latin typeface="Cambria"/>
              </a:rPr>
              <a:t>       </a:t>
            </a:r>
          </a:p>
          <a:p>
            <a:pPr algn="ctr"/>
            <a:r>
              <a:rPr sz="2800" b="1" cap="none" baseline="0" dirty="0">
                <a:solidFill>
                  <a:srgbClr val="993300"/>
                </a:solidFill>
                <a:latin typeface="Cambria"/>
              </a:rPr>
              <a:t>  “</a:t>
            </a:r>
            <a:r>
              <a:rPr lang="en-US" sz="2800" b="1" dirty="0" err="1">
                <a:solidFill>
                  <a:srgbClr val="993300"/>
                </a:solidFill>
                <a:latin typeface="Cambria"/>
                <a:sym typeface="Quando"/>
              </a:rPr>
              <a:t>CropCart</a:t>
            </a:r>
            <a:r>
              <a:rPr sz="2800" b="1" cap="none" baseline="0" dirty="0">
                <a:solidFill>
                  <a:srgbClr val="993300"/>
                </a:solidFill>
                <a:latin typeface="Cambria"/>
              </a:rPr>
              <a:t>”</a:t>
            </a:r>
          </a:p>
          <a:p>
            <a:pPr marL="0" marR="0" indent="457200" algn="ctr">
              <a:lnSpc>
                <a:spcPct val="100000"/>
              </a:lnSpc>
              <a:spcBef>
                <a:spcPct val="0"/>
              </a:spcBef>
              <a:spcAft>
                <a:spcPct val="0"/>
              </a:spcAft>
              <a:buNone/>
            </a:pPr>
            <a:r>
              <a:rPr sz="2800" b="1" cap="none" dirty="0">
                <a:solidFill>
                  <a:srgbClr val="993300"/>
                </a:solidFill>
                <a:latin typeface="Ajile"/>
                <a:ea typeface="Times New Roman"/>
              </a:rPr>
              <a:t>  </a:t>
            </a:r>
            <a:r>
              <a:rPr sz="1600" b="1" cap="none" baseline="0" dirty="0">
                <a:solidFill>
                  <a:schemeClr val="tx1"/>
                </a:solidFill>
                <a:latin typeface="Cambria"/>
                <a:ea typeface="Times New Roman"/>
              </a:rPr>
              <a:t>By</a:t>
            </a:r>
            <a:endParaRPr lang="en-IN" sz="1600" b="1" dirty="0">
              <a:latin typeface="Cambria"/>
              <a:ea typeface="Times New Roman"/>
            </a:endParaRPr>
          </a:p>
          <a:p>
            <a:pPr marL="0" marR="0" indent="457200" algn="ctr">
              <a:lnSpc>
                <a:spcPct val="100000"/>
              </a:lnSpc>
              <a:spcBef>
                <a:spcPct val="0"/>
              </a:spcBef>
              <a:spcAft>
                <a:spcPct val="0"/>
              </a:spcAft>
              <a:buNone/>
            </a:pPr>
            <a:r>
              <a:rPr lang="en-IN" cap="none" baseline="0" dirty="0">
                <a:solidFill>
                  <a:schemeClr val="tx1"/>
                </a:solidFill>
                <a:latin typeface="Times New Roman" panose="02020603050405020304" pitchFamily="18" charset="0"/>
                <a:ea typeface="Times New Roman"/>
                <a:cs typeface="Times New Roman" panose="02020603050405020304" pitchFamily="18" charset="0"/>
              </a:rPr>
              <a:t>AI045 – Sisodiya Mahima Milind</a:t>
            </a:r>
          </a:p>
          <a:p>
            <a:pPr marL="0" marR="0" indent="457200" algn="ctr">
              <a:lnSpc>
                <a:spcPct val="100000"/>
              </a:lnSpc>
              <a:spcBef>
                <a:spcPct val="0"/>
              </a:spcBef>
              <a:spcAft>
                <a:spcPct val="0"/>
              </a:spcAft>
              <a:buNone/>
            </a:pPr>
            <a:r>
              <a:rPr lang="en-IN" dirty="0">
                <a:latin typeface="Times New Roman" panose="02020603050405020304" pitchFamily="18" charset="0"/>
                <a:ea typeface="Times New Roman"/>
                <a:cs typeface="Times New Roman" panose="02020603050405020304" pitchFamily="18" charset="0"/>
              </a:rPr>
              <a:t>AI061 – Patil Divya Sagar</a:t>
            </a:r>
          </a:p>
          <a:p>
            <a:pPr marL="0" marR="0" indent="457200" algn="ctr">
              <a:lnSpc>
                <a:spcPct val="100000"/>
              </a:lnSpc>
              <a:spcBef>
                <a:spcPct val="0"/>
              </a:spcBef>
              <a:spcAft>
                <a:spcPct val="0"/>
              </a:spcAft>
              <a:buNone/>
            </a:pPr>
            <a:r>
              <a:rPr lang="en-IN" cap="none" baseline="0" dirty="0">
                <a:solidFill>
                  <a:schemeClr val="tx1"/>
                </a:solidFill>
                <a:latin typeface="Times New Roman" panose="02020603050405020304" pitchFamily="18" charset="0"/>
                <a:ea typeface="Times New Roman"/>
                <a:cs typeface="Times New Roman" panose="02020603050405020304" pitchFamily="18" charset="0"/>
              </a:rPr>
              <a:t>AI011 – Mahajan Sanika Yogesh</a:t>
            </a:r>
          </a:p>
          <a:p>
            <a:pPr marL="0" marR="0" indent="457200" algn="ctr">
              <a:lnSpc>
                <a:spcPct val="100000"/>
              </a:lnSpc>
              <a:spcBef>
                <a:spcPct val="0"/>
              </a:spcBef>
              <a:spcAft>
                <a:spcPct val="0"/>
              </a:spcAft>
              <a:buNone/>
            </a:pPr>
            <a:r>
              <a:rPr lang="en-IN" dirty="0">
                <a:latin typeface="Times New Roman" panose="02020603050405020304" pitchFamily="18" charset="0"/>
                <a:ea typeface="Times New Roman"/>
                <a:cs typeface="Times New Roman" panose="02020603050405020304" pitchFamily="18" charset="0"/>
              </a:rPr>
              <a:t>AI018 – </a:t>
            </a:r>
            <a:r>
              <a:rPr lang="en-IN" dirty="0" err="1">
                <a:latin typeface="Times New Roman" panose="02020603050405020304" pitchFamily="18" charset="0"/>
                <a:ea typeface="Times New Roman"/>
                <a:cs typeface="Times New Roman" panose="02020603050405020304" pitchFamily="18" charset="0"/>
              </a:rPr>
              <a:t>Shinde</a:t>
            </a:r>
            <a:r>
              <a:rPr lang="en-IN" dirty="0">
                <a:latin typeface="Times New Roman" panose="02020603050405020304" pitchFamily="18" charset="0"/>
                <a:ea typeface="Times New Roman"/>
                <a:cs typeface="Times New Roman" panose="02020603050405020304" pitchFamily="18" charset="0"/>
              </a:rPr>
              <a:t> </a:t>
            </a:r>
            <a:r>
              <a:rPr lang="en-IN" dirty="0" err="1">
                <a:latin typeface="Times New Roman" panose="02020603050405020304" pitchFamily="18" charset="0"/>
                <a:ea typeface="Times New Roman"/>
                <a:cs typeface="Times New Roman" panose="02020603050405020304" pitchFamily="18" charset="0"/>
              </a:rPr>
              <a:t>Prerana</a:t>
            </a:r>
            <a:r>
              <a:rPr lang="en-IN" dirty="0">
                <a:latin typeface="Times New Roman" panose="02020603050405020304" pitchFamily="18" charset="0"/>
                <a:ea typeface="Times New Roman"/>
                <a:cs typeface="Times New Roman" panose="02020603050405020304" pitchFamily="18" charset="0"/>
              </a:rPr>
              <a:t> </a:t>
            </a:r>
            <a:r>
              <a:rPr lang="en-IN" dirty="0" err="1">
                <a:latin typeface="Times New Roman" panose="02020603050405020304" pitchFamily="18" charset="0"/>
                <a:ea typeface="Times New Roman"/>
                <a:cs typeface="Times New Roman" panose="02020603050405020304" pitchFamily="18" charset="0"/>
              </a:rPr>
              <a:t>Milind</a:t>
            </a:r>
            <a:r>
              <a:rPr lang="en-IN" dirty="0">
                <a:latin typeface="Times New Roman" panose="02020603050405020304" pitchFamily="18" charset="0"/>
                <a:ea typeface="Times New Roman"/>
                <a:cs typeface="Times New Roman" panose="02020603050405020304" pitchFamily="18" charset="0"/>
              </a:rPr>
              <a:t> </a:t>
            </a:r>
          </a:p>
          <a:p>
            <a:pPr marL="0" marR="0" indent="457200" algn="ctr">
              <a:lnSpc>
                <a:spcPct val="100000"/>
              </a:lnSpc>
              <a:spcBef>
                <a:spcPct val="0"/>
              </a:spcBef>
              <a:spcAft>
                <a:spcPct val="0"/>
              </a:spcAft>
              <a:buNone/>
            </a:pPr>
            <a:endParaRPr lang="en-IN" sz="1200" dirty="0">
              <a:latin typeface="Times New Roman" panose="02020603050405020304" pitchFamily="18" charset="0"/>
              <a:ea typeface="Times New Roman"/>
              <a:cs typeface="Times New Roman" panose="02020603050405020304" pitchFamily="18" charset="0"/>
            </a:endParaRPr>
          </a:p>
          <a:p>
            <a:pPr marL="0" marR="0" indent="457200" algn="ctr">
              <a:lnSpc>
                <a:spcPct val="100000"/>
              </a:lnSpc>
              <a:spcBef>
                <a:spcPct val="0"/>
              </a:spcBef>
              <a:spcAft>
                <a:spcPct val="0"/>
              </a:spcAft>
              <a:buNone/>
            </a:pPr>
            <a:r>
              <a:rPr sz="2000" b="1" cap="none" baseline="0" dirty="0">
                <a:solidFill>
                  <a:schemeClr val="tx1"/>
                </a:solidFill>
                <a:latin typeface="Cambria"/>
                <a:ea typeface="Times New Roman"/>
              </a:rPr>
              <a:t>Under the Guidance of </a:t>
            </a:r>
            <a:endParaRPr lang="en-IN" sz="2000" b="1" cap="none" baseline="0" dirty="0">
              <a:solidFill>
                <a:schemeClr val="tx1"/>
              </a:solidFill>
              <a:latin typeface="Cambria"/>
              <a:ea typeface="Times New Roman"/>
            </a:endParaRPr>
          </a:p>
          <a:p>
            <a:pPr marL="0" marR="0" indent="457200" algn="ctr">
              <a:lnSpc>
                <a:spcPct val="100000"/>
              </a:lnSpc>
              <a:spcBef>
                <a:spcPct val="0"/>
              </a:spcBef>
              <a:spcAft>
                <a:spcPct val="0"/>
              </a:spcAft>
              <a:buNone/>
            </a:pPr>
            <a:r>
              <a:rPr lang="en-IN" sz="2000" dirty="0" err="1">
                <a:latin typeface="Times New Roman" panose="02020603050405020304" pitchFamily="18" charset="0"/>
                <a:ea typeface="Times New Roman"/>
                <a:cs typeface="Times New Roman" panose="02020603050405020304" pitchFamily="18" charset="0"/>
              </a:rPr>
              <a:t>Prof.</a:t>
            </a:r>
            <a:r>
              <a:rPr lang="en-IN" sz="2000" dirty="0">
                <a:latin typeface="Times New Roman" panose="02020603050405020304" pitchFamily="18" charset="0"/>
                <a:ea typeface="Times New Roman"/>
                <a:cs typeface="Times New Roman" panose="02020603050405020304" pitchFamily="18" charset="0"/>
              </a:rPr>
              <a:t> </a:t>
            </a:r>
            <a:r>
              <a:rPr lang="en-IN" sz="2000" dirty="0" err="1">
                <a:latin typeface="Times New Roman" panose="02020603050405020304" pitchFamily="18" charset="0"/>
                <a:ea typeface="Times New Roman"/>
                <a:cs typeface="Times New Roman" panose="02020603050405020304" pitchFamily="18" charset="0"/>
              </a:rPr>
              <a:t>Dr.</a:t>
            </a:r>
            <a:r>
              <a:rPr lang="en-IN" sz="2000" dirty="0">
                <a:latin typeface="Times New Roman" panose="02020603050405020304" pitchFamily="18" charset="0"/>
                <a:ea typeface="Times New Roman"/>
                <a:cs typeface="Times New Roman" panose="02020603050405020304" pitchFamily="18" charset="0"/>
              </a:rPr>
              <a:t> Pradip K. Patil</a:t>
            </a:r>
            <a:endParaRPr lang="en-IN" sz="2000" cap="none" baseline="0" dirty="0">
              <a:solidFill>
                <a:schemeClr val="tx1"/>
              </a:solidFill>
              <a:latin typeface="Times New Roman" panose="02020603050405020304" pitchFamily="18" charset="0"/>
              <a:ea typeface="Times New Roman"/>
              <a:cs typeface="Times New Roman" panose="02020603050405020304" pitchFamily="18" charset="0"/>
            </a:endParaRPr>
          </a:p>
          <a:p>
            <a:pPr marL="0" marR="0" indent="457200" algn="ctr">
              <a:lnSpc>
                <a:spcPct val="100000"/>
              </a:lnSpc>
              <a:spcBef>
                <a:spcPct val="0"/>
              </a:spcBef>
              <a:spcAft>
                <a:spcPct val="0"/>
              </a:spcAft>
              <a:buNone/>
            </a:pPr>
            <a:endParaRPr sz="2000" cap="none" baseline="0" dirty="0">
              <a:solidFill>
                <a:schemeClr val="tx1"/>
              </a:solidFill>
              <a:latin typeface="Times New Roman" panose="02020603050405020304" pitchFamily="18" charset="0"/>
              <a:ea typeface="Times New Roman"/>
              <a:cs typeface="Times New Roman" panose="02020603050405020304" pitchFamily="18" charset="0"/>
            </a:endParaRPr>
          </a:p>
          <a:p>
            <a:pPr marL="0" marR="0" indent="457200" algn="ctr">
              <a:lnSpc>
                <a:spcPct val="100000"/>
              </a:lnSpc>
              <a:spcBef>
                <a:spcPct val="0"/>
              </a:spcBef>
              <a:spcAft>
                <a:spcPct val="0"/>
              </a:spcAft>
              <a:buNone/>
            </a:pPr>
            <a:r>
              <a:rPr sz="1600" b="1" cap="none" baseline="0" dirty="0">
                <a:solidFill>
                  <a:schemeClr val="tx1"/>
                </a:solidFill>
                <a:latin typeface="Cambria"/>
                <a:ea typeface="Times New Roman"/>
              </a:rPr>
              <a:t>                                   </a:t>
            </a:r>
          </a:p>
        </p:txBody>
      </p:sp>
      <p:pic>
        <p:nvPicPr>
          <p:cNvPr id="1025" name="Picture 1" descr="SES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40664" y="3600010"/>
            <a:ext cx="2058406" cy="180073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3"/>
          <p:cNvSpPr>
            <a:spLocks noChangeArrowheads="1"/>
          </p:cNvSpPr>
          <p:nvPr/>
        </p:nvSpPr>
        <p:spPr bwMode="auto">
          <a:xfrm>
            <a:off x="2555299" y="5400744"/>
            <a:ext cx="6929465" cy="1184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indent="0" algn="ctr">
              <a:lnSpc>
                <a:spcPct val="100000"/>
              </a:lnSpc>
              <a:spcBef>
                <a:spcPct val="0"/>
              </a:spcBef>
              <a:spcAft>
                <a:spcPct val="0"/>
              </a:spcAft>
              <a:buNone/>
            </a:pPr>
            <a:r>
              <a:rPr sz="2000" b="1" cap="none" baseline="0">
                <a:solidFill>
                  <a:srgbClr val="000000"/>
                </a:solidFill>
                <a:latin typeface="Cambria"/>
                <a:cs typeface="Arial"/>
              </a:rPr>
              <a:t>Department of Artificial Intelligence and Machine Learning</a:t>
            </a:r>
          </a:p>
          <a:p>
            <a:pPr marL="0" marR="0" indent="0" algn="ctr">
              <a:lnSpc>
                <a:spcPct val="100000"/>
              </a:lnSpc>
              <a:spcBef>
                <a:spcPct val="0"/>
              </a:spcBef>
              <a:spcAft>
                <a:spcPct val="0"/>
              </a:spcAft>
              <a:buNone/>
            </a:pPr>
            <a:r>
              <a:rPr sz="1900" b="1" cap="none" baseline="0">
                <a:solidFill>
                  <a:srgbClr val="000000"/>
                </a:solidFill>
                <a:latin typeface="Cambria"/>
                <a:ea typeface="Times New Roman"/>
                <a:cs typeface="Arial"/>
              </a:rPr>
              <a:t>The Shirpur Education Society’s</a:t>
            </a:r>
          </a:p>
          <a:p>
            <a:pPr marL="0" marR="0" indent="0" algn="ctr">
              <a:lnSpc>
                <a:spcPct val="100000"/>
              </a:lnSpc>
              <a:spcBef>
                <a:spcPct val="0"/>
              </a:spcBef>
              <a:spcAft>
                <a:spcPct val="0"/>
              </a:spcAft>
              <a:buNone/>
            </a:pPr>
            <a:r>
              <a:rPr sz="1800" b="1" cap="none" baseline="0">
                <a:solidFill>
                  <a:srgbClr val="000000"/>
                </a:solidFill>
                <a:latin typeface="Cambria"/>
                <a:ea typeface="Times New Roman"/>
                <a:cs typeface="Arial"/>
              </a:rPr>
              <a:t>R. C. Patel Institute of Technology, Shirpur - 425405.</a:t>
            </a:r>
          </a:p>
          <a:p>
            <a:pPr marL="0" marR="0" indent="0" algn="ctr">
              <a:lnSpc>
                <a:spcPct val="100000"/>
              </a:lnSpc>
              <a:spcBef>
                <a:spcPct val="0"/>
              </a:spcBef>
              <a:spcAft>
                <a:spcPct val="0"/>
              </a:spcAft>
              <a:buNone/>
            </a:pPr>
            <a:r>
              <a:rPr sz="2000" b="1" cap="none" baseline="0">
                <a:solidFill>
                  <a:srgbClr val="000000"/>
                </a:solidFill>
                <a:latin typeface="Cambria"/>
                <a:ea typeface="Times New Roman"/>
                <a:cs typeface="Arial"/>
              </a:rPr>
              <a:t>[2025-26]</a:t>
            </a:r>
            <a:r>
              <a:rPr sz="1200" b="1" cap="none" baseline="0">
                <a:solidFill>
                  <a:srgbClr val="000080"/>
                </a:solidFill>
                <a:latin typeface="Cambria"/>
                <a:ea typeface="Times New Roman"/>
                <a:cs typeface="Arial"/>
              </a:rPr>
              <a:t>            </a:t>
            </a:r>
          </a:p>
        </p:txBody>
      </p:sp>
      <p:sp>
        <p:nvSpPr>
          <p:cNvPr id="7" name="Parallelogram 6"/>
          <p:cNvSpPr/>
          <p:nvPr/>
        </p:nvSpPr>
        <p:spPr>
          <a:xfrm flipV="1">
            <a:off x="99607" y="35621"/>
            <a:ext cx="11887688" cy="245217"/>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sp>
        <p:nvSpPr>
          <p:cNvPr id="8" name="Parallelogram 6"/>
          <p:cNvSpPr/>
          <p:nvPr/>
        </p:nvSpPr>
        <p:spPr>
          <a:xfrm>
            <a:off x="99607" y="6585686"/>
            <a:ext cx="11887688" cy="272313"/>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3273711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215" y="393506"/>
            <a:ext cx="10515600" cy="1325556"/>
          </a:xfrm>
        </p:spPr>
        <p:txBody>
          <a:bodyPr/>
          <a:lstStyle/>
          <a:p>
            <a:r>
              <a:rPr dirty="0">
                <a:latin typeface="Times New Roman"/>
                <a:cs typeface="Times New Roman"/>
              </a:rPr>
              <a:t>Outline</a:t>
            </a:r>
            <a:br>
              <a:rPr dirty="0">
                <a:cs typeface="Times New Roman"/>
              </a:rPr>
            </a:br>
            <a:endParaRPr dirty="0">
              <a:cs typeface="Times New Roman"/>
            </a:endParaRPr>
          </a:p>
        </p:txBody>
      </p:sp>
      <p:sp>
        <p:nvSpPr>
          <p:cNvPr id="3" name="Content Placeholder 2"/>
          <p:cNvSpPr>
            <a:spLocks noGrp="1"/>
          </p:cNvSpPr>
          <p:nvPr>
            <p:ph idx="1"/>
          </p:nvPr>
        </p:nvSpPr>
        <p:spPr>
          <a:xfrm>
            <a:off x="1066800" y="1330202"/>
            <a:ext cx="10515600" cy="3856203"/>
          </a:xfrm>
        </p:spPr>
        <p:txBody>
          <a:bodyPr>
            <a:noAutofit/>
          </a:bodyPr>
          <a:lstStyle/>
          <a:p>
            <a:r>
              <a:rPr sz="2200" dirty="0">
                <a:latin typeface="Times New Roman"/>
                <a:cs typeface="Times New Roman"/>
              </a:rPr>
              <a:t>Introduction</a:t>
            </a:r>
          </a:p>
          <a:p>
            <a:r>
              <a:rPr lang="en-IN" sz="2200" dirty="0">
                <a:latin typeface="Times New Roman" panose="02020603050405020304" pitchFamily="18" charset="0"/>
                <a:cs typeface="Times New Roman" panose="02020603050405020304" pitchFamily="18" charset="0"/>
              </a:rPr>
              <a:t>Problem Statement</a:t>
            </a:r>
          </a:p>
          <a:p>
            <a:r>
              <a:rPr lang="en-IN" sz="2200" dirty="0">
                <a:latin typeface="Times New Roman" panose="02020603050405020304" pitchFamily="18" charset="0"/>
                <a:cs typeface="Times New Roman" panose="02020603050405020304" pitchFamily="18" charset="0"/>
              </a:rPr>
              <a:t>Project Objectives</a:t>
            </a:r>
          </a:p>
          <a:p>
            <a:r>
              <a:rPr lang="en-IN" sz="2200" dirty="0">
                <a:latin typeface="Times New Roman" panose="02020603050405020304" pitchFamily="18" charset="0"/>
                <a:cs typeface="Times New Roman" panose="02020603050405020304" pitchFamily="18" charset="0"/>
              </a:rPr>
              <a:t>Features</a:t>
            </a:r>
          </a:p>
          <a:p>
            <a:r>
              <a:rPr lang="en-IN" sz="2200" dirty="0">
                <a:latin typeface="Times New Roman" panose="02020603050405020304" pitchFamily="18" charset="0"/>
                <a:cs typeface="Times New Roman" panose="02020603050405020304" pitchFamily="18" charset="0"/>
              </a:rPr>
              <a:t>Frontend Overview</a:t>
            </a:r>
          </a:p>
          <a:p>
            <a:r>
              <a:rPr lang="en-IN" sz="2200" dirty="0">
                <a:latin typeface="Times New Roman" panose="02020603050405020304" pitchFamily="18" charset="0"/>
                <a:cs typeface="Times New Roman" panose="02020603050405020304" pitchFamily="18" charset="0"/>
              </a:rPr>
              <a:t>Backend Overview</a:t>
            </a:r>
          </a:p>
          <a:p>
            <a:r>
              <a:rPr lang="en-IN" sz="2200" dirty="0">
                <a:latin typeface="Times New Roman" panose="02020603050405020304" pitchFamily="18" charset="0"/>
                <a:cs typeface="Times New Roman" panose="02020603050405020304" pitchFamily="18" charset="0"/>
              </a:rPr>
              <a:t>Project Structure</a:t>
            </a:r>
          </a:p>
          <a:p>
            <a:r>
              <a:rPr lang="en-IN" sz="2200" dirty="0">
                <a:latin typeface="Times New Roman" panose="02020603050405020304" pitchFamily="18" charset="0"/>
                <a:cs typeface="Times New Roman" panose="02020603050405020304" pitchFamily="18" charset="0"/>
              </a:rPr>
              <a:t>Technology Stack</a:t>
            </a:r>
          </a:p>
          <a:p>
            <a:r>
              <a:rPr lang="en-IN" sz="2200" dirty="0">
                <a:latin typeface="Times New Roman" panose="02020603050405020304" pitchFamily="18" charset="0"/>
                <a:cs typeface="Times New Roman" panose="02020603050405020304" pitchFamily="18" charset="0"/>
              </a:rPr>
              <a:t>Installation &amp; Setup</a:t>
            </a:r>
          </a:p>
          <a:p>
            <a:r>
              <a:rPr lang="en-IN" sz="2200" dirty="0">
                <a:latin typeface="Times New Roman" panose="02020603050405020304" pitchFamily="18" charset="0"/>
                <a:cs typeface="Times New Roman" panose="02020603050405020304" pitchFamily="18" charset="0"/>
              </a:rPr>
              <a:t>Application Workflow</a:t>
            </a:r>
          </a:p>
          <a:p>
            <a:r>
              <a:rPr lang="en-IN" sz="2200" dirty="0">
                <a:latin typeface="Times New Roman" panose="02020603050405020304" pitchFamily="18" charset="0"/>
                <a:cs typeface="Times New Roman" panose="02020603050405020304" pitchFamily="18" charset="0"/>
              </a:rPr>
              <a:t>Future Scope</a:t>
            </a:r>
            <a:endParaRPr lang="en-IN" sz="2200" b="1" dirty="0">
              <a:latin typeface="Times New Roman" panose="02020603050405020304" pitchFamily="18" charset="0"/>
              <a:cs typeface="Times New Roman" panose="02020603050405020304" pitchFamily="18" charset="0"/>
            </a:endParaRPr>
          </a:p>
          <a:p>
            <a:r>
              <a:rPr sz="2200" dirty="0">
                <a:latin typeface="Times New Roman" panose="02020603050405020304" pitchFamily="18" charset="0"/>
                <a:cs typeface="Times New Roman" panose="02020603050405020304" pitchFamily="18" charset="0"/>
              </a:rPr>
              <a:t>Conclusion</a:t>
            </a:r>
            <a:r>
              <a:rPr lang="en-US" sz="2200" dirty="0">
                <a:latin typeface="Times New Roman" panose="02020603050405020304" pitchFamily="18" charset="0"/>
                <a:cs typeface="Times New Roman" panose="02020603050405020304" pitchFamily="18" charset="0"/>
              </a:rPr>
              <a:t> </a:t>
            </a:r>
            <a:endParaRPr sz="2200" dirty="0">
              <a:latin typeface="Times New Roman"/>
              <a:cs typeface="Times New Roman"/>
            </a:endParaRPr>
          </a:p>
        </p:txBody>
      </p:sp>
      <p:sp>
        <p:nvSpPr>
          <p:cNvPr id="7" name="Parallelogram 6"/>
          <p:cNvSpPr/>
          <p:nvPr/>
        </p:nvSpPr>
        <p:spPr>
          <a:xfrm>
            <a:off x="353294" y="6549088"/>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sp>
        <p:nvSpPr>
          <p:cNvPr id="8" name="Parallelogram 6"/>
          <p:cNvSpPr/>
          <p:nvPr/>
        </p:nvSpPr>
        <p:spPr>
          <a:xfrm flipV="1">
            <a:off x="838200" y="96609"/>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grpSp>
        <p:nvGrpSpPr>
          <p:cNvPr id="6" name="Group 5"/>
          <p:cNvGrpSpPr/>
          <p:nvPr/>
        </p:nvGrpSpPr>
        <p:grpSpPr>
          <a:xfrm>
            <a:off x="0" y="25547"/>
            <a:ext cx="1180114" cy="1304655"/>
            <a:chOff x="5449285" y="2761938"/>
            <a:chExt cx="1289977" cy="1334137"/>
          </a:xfrm>
        </p:grpSpPr>
        <p:sp>
          <p:nvSpPr>
            <p:cNvPr id="4" name="Shape 454"/>
            <p:cNvSpPr/>
            <p:nvPr/>
          </p:nvSpPr>
          <p:spPr>
            <a:xfrm>
              <a:off x="5452746" y="2761938"/>
              <a:ext cx="1286516" cy="1334137"/>
            </a:xfrm>
            <a:custGeom>
              <a:avLst/>
              <a:gdLst/>
              <a:ahLst/>
              <a:cxnLst/>
              <a:rect l="0" t="0" r="0" b="0"/>
              <a:pathLst>
                <a:path w="1286905" h="1334619">
                  <a:moveTo>
                    <a:pt x="0" y="0"/>
                  </a:moveTo>
                  <a:lnTo>
                    <a:pt x="1286905" y="0"/>
                  </a:lnTo>
                  <a:lnTo>
                    <a:pt x="1286905" y="1334619"/>
                  </a:lnTo>
                  <a:lnTo>
                    <a:pt x="0" y="1334619"/>
                  </a:lnTo>
                  <a:lnTo>
                    <a:pt x="0" y="0"/>
                  </a:lnTo>
                </a:path>
              </a:pathLst>
            </a:custGeom>
            <a:ln w="0" cap="flat">
              <a:miter lim="127000"/>
            </a:ln>
          </p:spPr>
          <p:style>
            <a:lnRef idx="0">
              <a:srgbClr val="000000">
                <a:alpha val="0"/>
              </a:srgbClr>
            </a:lnRef>
            <a:fillRef idx="1">
              <a:srgbClr val="292929"/>
            </a:fillRef>
            <a:effectRef idx="0">
              <a:scrgbClr r="0" g="0" b="0"/>
            </a:effectRef>
            <a:fontRef idx="none"/>
          </p:style>
          <p:txBody>
            <a:bodyPr/>
            <a:lstStyle/>
            <a:p>
              <a:endParaRPr/>
            </a:p>
          </p:txBody>
        </p:sp>
        <p:pic>
          <p:nvPicPr>
            <p:cNvPr id="5" name="Picture 4"/>
            <p:cNvPicPr/>
            <p:nvPr/>
          </p:nvPicPr>
          <p:blipFill rotWithShape="1">
            <a:blip r:embed="rId2"/>
            <a:srcRect l="3435" t="5682" r="9680" b="18466"/>
            <a:stretch/>
          </p:blipFill>
          <p:spPr>
            <a:xfrm>
              <a:off x="5449285" y="2761938"/>
              <a:ext cx="1286516" cy="1334137"/>
            </a:xfrm>
            <a:prstGeom prst="rect">
              <a:avLst/>
            </a:prstGeom>
          </p:spPr>
        </p:pic>
      </p:grpSp>
    </p:spTree>
    <p:extLst>
      <p:ext uri="{BB962C8B-B14F-4D97-AF65-F5344CB8AC3E}">
        <p14:creationId xmlns:p14="http://schemas.microsoft.com/office/powerpoint/2010/main" val="3632938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215" y="393506"/>
            <a:ext cx="10515600" cy="1325556"/>
          </a:xfrm>
        </p:spPr>
        <p:txBody>
          <a:bodyPr/>
          <a:lstStyle/>
          <a:p>
            <a:br>
              <a:rPr dirty="0">
                <a:cs typeface="Times New Roman"/>
              </a:rPr>
            </a:br>
            <a:endParaRPr dirty="0">
              <a:cs typeface="Times New Roman"/>
            </a:endParaRPr>
          </a:p>
        </p:txBody>
      </p:sp>
      <p:sp>
        <p:nvSpPr>
          <p:cNvPr id="7" name="Parallelogram 6"/>
          <p:cNvSpPr/>
          <p:nvPr/>
        </p:nvSpPr>
        <p:spPr>
          <a:xfrm>
            <a:off x="353294" y="6549088"/>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sp>
        <p:nvSpPr>
          <p:cNvPr id="8" name="Parallelogram 6"/>
          <p:cNvSpPr/>
          <p:nvPr/>
        </p:nvSpPr>
        <p:spPr>
          <a:xfrm flipV="1">
            <a:off x="588480" y="56703"/>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grpSp>
        <p:nvGrpSpPr>
          <p:cNvPr id="6" name="Group 5"/>
          <p:cNvGrpSpPr/>
          <p:nvPr/>
        </p:nvGrpSpPr>
        <p:grpSpPr>
          <a:xfrm>
            <a:off x="0" y="25547"/>
            <a:ext cx="1180114" cy="1304655"/>
            <a:chOff x="5449285" y="2761938"/>
            <a:chExt cx="1289977" cy="1334137"/>
          </a:xfrm>
        </p:grpSpPr>
        <p:sp>
          <p:nvSpPr>
            <p:cNvPr id="4" name="Shape 454"/>
            <p:cNvSpPr/>
            <p:nvPr/>
          </p:nvSpPr>
          <p:spPr>
            <a:xfrm>
              <a:off x="5452746" y="2761938"/>
              <a:ext cx="1286516" cy="1334137"/>
            </a:xfrm>
            <a:custGeom>
              <a:avLst/>
              <a:gdLst/>
              <a:ahLst/>
              <a:cxnLst/>
              <a:rect l="0" t="0" r="0" b="0"/>
              <a:pathLst>
                <a:path w="1286905" h="1334619">
                  <a:moveTo>
                    <a:pt x="0" y="0"/>
                  </a:moveTo>
                  <a:lnTo>
                    <a:pt x="1286905" y="0"/>
                  </a:lnTo>
                  <a:lnTo>
                    <a:pt x="1286905" y="1334619"/>
                  </a:lnTo>
                  <a:lnTo>
                    <a:pt x="0" y="1334619"/>
                  </a:lnTo>
                  <a:lnTo>
                    <a:pt x="0" y="0"/>
                  </a:lnTo>
                </a:path>
              </a:pathLst>
            </a:custGeom>
            <a:ln w="0" cap="flat">
              <a:miter lim="127000"/>
            </a:ln>
          </p:spPr>
          <p:style>
            <a:lnRef idx="0">
              <a:srgbClr val="000000">
                <a:alpha val="0"/>
              </a:srgbClr>
            </a:lnRef>
            <a:fillRef idx="1">
              <a:srgbClr val="292929"/>
            </a:fillRef>
            <a:effectRef idx="0">
              <a:scrgbClr r="0" g="0" b="0"/>
            </a:effectRef>
            <a:fontRef idx="none"/>
          </p:style>
          <p:txBody>
            <a:bodyPr/>
            <a:lstStyle/>
            <a:p>
              <a:endParaRPr/>
            </a:p>
          </p:txBody>
        </p:sp>
        <p:pic>
          <p:nvPicPr>
            <p:cNvPr id="5" name="Picture 4"/>
            <p:cNvPicPr/>
            <p:nvPr/>
          </p:nvPicPr>
          <p:blipFill rotWithShape="1">
            <a:blip r:embed="rId2"/>
            <a:srcRect l="3435" t="5682" r="9680" b="18466"/>
            <a:stretch/>
          </p:blipFill>
          <p:spPr>
            <a:xfrm>
              <a:off x="5449285" y="2761938"/>
              <a:ext cx="1286516" cy="1334137"/>
            </a:xfrm>
            <a:prstGeom prst="rect">
              <a:avLst/>
            </a:prstGeom>
          </p:spPr>
        </p:pic>
      </p:grpSp>
      <p:sp>
        <p:nvSpPr>
          <p:cNvPr id="3" name="TextBox 2">
            <a:extLst>
              <a:ext uri="{FF2B5EF4-FFF2-40B4-BE49-F238E27FC236}">
                <a16:creationId xmlns:a16="http://schemas.microsoft.com/office/drawing/2014/main" id="{9A456E2D-253F-20B6-BA25-2119C0CC315D}"/>
              </a:ext>
            </a:extLst>
          </p:cNvPr>
          <p:cNvSpPr txBox="1"/>
          <p:nvPr/>
        </p:nvSpPr>
        <p:spPr>
          <a:xfrm>
            <a:off x="1500049" y="477224"/>
            <a:ext cx="9609509" cy="769441"/>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Introduction</a:t>
            </a:r>
          </a:p>
        </p:txBody>
      </p:sp>
      <p:sp>
        <p:nvSpPr>
          <p:cNvPr id="10" name="Rectangle 1">
            <a:extLst>
              <a:ext uri="{FF2B5EF4-FFF2-40B4-BE49-F238E27FC236}">
                <a16:creationId xmlns:a16="http://schemas.microsoft.com/office/drawing/2014/main" id="{951858EA-DEAB-4E0A-AB71-BE730171E20F}"/>
              </a:ext>
            </a:extLst>
          </p:cNvPr>
          <p:cNvSpPr>
            <a:spLocks noGrp="1" noChangeArrowheads="1"/>
          </p:cNvSpPr>
          <p:nvPr>
            <p:ph idx="1"/>
          </p:nvPr>
        </p:nvSpPr>
        <p:spPr bwMode="auto">
          <a:xfrm>
            <a:off x="774441" y="1669902"/>
            <a:ext cx="10583515" cy="42216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600" b="1" dirty="0" err="1">
                <a:latin typeface="Times New Roman" panose="02020603050405020304" pitchFamily="18" charset="0"/>
                <a:cs typeface="Times New Roman" panose="02020603050405020304" pitchFamily="18" charset="0"/>
              </a:rPr>
              <a:t>CropCart</a:t>
            </a:r>
            <a:r>
              <a:rPr lang="en-US" sz="2600" b="1" dirty="0">
                <a:latin typeface="Times New Roman" panose="02020603050405020304" pitchFamily="18" charset="0"/>
                <a:cs typeface="Times New Roman" panose="02020603050405020304" pitchFamily="18" charset="0"/>
              </a:rPr>
              <a:t> – A Farmer to Consumer Digital Marketplace</a:t>
            </a:r>
            <a:endParaRPr lang="en-US" sz="2600" dirty="0">
              <a:latin typeface="Times New Roman" panose="02020603050405020304" pitchFamily="18" charset="0"/>
              <a:cs typeface="Times New Roman" panose="02020603050405020304" pitchFamily="18" charset="0"/>
            </a:endParaRPr>
          </a:p>
          <a:p>
            <a:pPr marL="0" indent="0" algn="just">
              <a:buNone/>
            </a:pPr>
            <a:r>
              <a:rPr lang="en-US" sz="2600" dirty="0" err="1">
                <a:latin typeface="Times New Roman" panose="02020603050405020304" pitchFamily="18" charset="0"/>
                <a:cs typeface="Times New Roman" panose="02020603050405020304" pitchFamily="18" charset="0"/>
              </a:rPr>
              <a:t>CropCart</a:t>
            </a:r>
            <a:r>
              <a:rPr lang="en-US" sz="2600" dirty="0">
                <a:latin typeface="Times New Roman" panose="02020603050405020304" pitchFamily="18" charset="0"/>
                <a:cs typeface="Times New Roman" panose="02020603050405020304" pitchFamily="18" charset="0"/>
              </a:rPr>
              <a:t> is a web-based farmer-to-consumer marketplace developed to bridge the gap between farmers and buyers by providing a direct digital platform for buying and selling agricultural products. The platform allows farmers to list fresh farm products such as vegetables, fruits, milk, grains, and dairy items, while buyers can conveniently browse and purchase these products online. By eliminating intermediaries, </a:t>
            </a:r>
            <a:r>
              <a:rPr lang="en-US" sz="2600" dirty="0" err="1">
                <a:latin typeface="Times New Roman" panose="02020603050405020304" pitchFamily="18" charset="0"/>
                <a:cs typeface="Times New Roman" panose="02020603050405020304" pitchFamily="18" charset="0"/>
              </a:rPr>
              <a:t>CropCart</a:t>
            </a:r>
            <a:r>
              <a:rPr lang="en-US" sz="2600" dirty="0">
                <a:latin typeface="Times New Roman" panose="02020603050405020304" pitchFamily="18" charset="0"/>
                <a:cs typeface="Times New Roman" panose="02020603050405020304" pitchFamily="18" charset="0"/>
              </a:rPr>
              <a:t> ensures fair pricing, improved income for farmers, and access to fresh and quality produce for consumers. This project is developed as a Second Year (Third Semester) group project with a focus on practical implementation of modern web technologies.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2766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215" y="393506"/>
            <a:ext cx="10515600" cy="1325556"/>
          </a:xfrm>
        </p:spPr>
        <p:txBody>
          <a:bodyPr/>
          <a:lstStyle/>
          <a:p>
            <a:br>
              <a:rPr dirty="0">
                <a:latin typeface="Times New Roman" panose="02020603050405020304" pitchFamily="18" charset="0"/>
                <a:cs typeface="Times New Roman" panose="02020603050405020304" pitchFamily="18" charset="0"/>
              </a:rPr>
            </a:br>
            <a:endParaRPr dirty="0">
              <a:latin typeface="Times New Roman" panose="02020603050405020304" pitchFamily="18" charset="0"/>
              <a:cs typeface="Times New Roman" panose="02020603050405020304" pitchFamily="18" charset="0"/>
            </a:endParaRPr>
          </a:p>
        </p:txBody>
      </p:sp>
      <p:sp>
        <p:nvSpPr>
          <p:cNvPr id="7" name="Parallelogram 6"/>
          <p:cNvSpPr/>
          <p:nvPr/>
        </p:nvSpPr>
        <p:spPr>
          <a:xfrm>
            <a:off x="353294" y="6549088"/>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sp>
        <p:nvSpPr>
          <p:cNvPr id="8" name="Parallelogram 6"/>
          <p:cNvSpPr/>
          <p:nvPr/>
        </p:nvSpPr>
        <p:spPr>
          <a:xfrm flipV="1">
            <a:off x="588480" y="56703"/>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grpSp>
        <p:nvGrpSpPr>
          <p:cNvPr id="6" name="Group 5"/>
          <p:cNvGrpSpPr/>
          <p:nvPr/>
        </p:nvGrpSpPr>
        <p:grpSpPr>
          <a:xfrm>
            <a:off x="0" y="-11399"/>
            <a:ext cx="1180114" cy="1304655"/>
            <a:chOff x="5449285" y="2761938"/>
            <a:chExt cx="1289977" cy="1334137"/>
          </a:xfrm>
        </p:grpSpPr>
        <p:sp>
          <p:nvSpPr>
            <p:cNvPr id="4" name="Shape 454"/>
            <p:cNvSpPr/>
            <p:nvPr/>
          </p:nvSpPr>
          <p:spPr>
            <a:xfrm>
              <a:off x="5452746" y="2761938"/>
              <a:ext cx="1286516" cy="1334137"/>
            </a:xfrm>
            <a:custGeom>
              <a:avLst/>
              <a:gdLst/>
              <a:ahLst/>
              <a:cxnLst/>
              <a:rect l="0" t="0" r="0" b="0"/>
              <a:pathLst>
                <a:path w="1286905" h="1334619">
                  <a:moveTo>
                    <a:pt x="0" y="0"/>
                  </a:moveTo>
                  <a:lnTo>
                    <a:pt x="1286905" y="0"/>
                  </a:lnTo>
                  <a:lnTo>
                    <a:pt x="1286905" y="1334619"/>
                  </a:lnTo>
                  <a:lnTo>
                    <a:pt x="0" y="1334619"/>
                  </a:lnTo>
                  <a:lnTo>
                    <a:pt x="0" y="0"/>
                  </a:lnTo>
                </a:path>
              </a:pathLst>
            </a:custGeom>
            <a:ln w="0" cap="flat">
              <a:miter lim="127000"/>
            </a:ln>
          </p:spPr>
          <p:style>
            <a:lnRef idx="0">
              <a:srgbClr val="000000">
                <a:alpha val="0"/>
              </a:srgbClr>
            </a:lnRef>
            <a:fillRef idx="1">
              <a:srgbClr val="292929"/>
            </a:fillRef>
            <a:effectRef idx="0">
              <a:scrgbClr r="0" g="0" b="0"/>
            </a:effectRef>
            <a:fontRef idx="none"/>
          </p:style>
          <p:txBody>
            <a:bodyPr/>
            <a:lstStyle/>
            <a:p>
              <a:endParaRPr/>
            </a:p>
          </p:txBody>
        </p:sp>
        <p:pic>
          <p:nvPicPr>
            <p:cNvPr id="5" name="Picture 4"/>
            <p:cNvPicPr/>
            <p:nvPr/>
          </p:nvPicPr>
          <p:blipFill rotWithShape="1">
            <a:blip r:embed="rId2"/>
            <a:srcRect l="3435" t="5682" r="9680" b="18466"/>
            <a:stretch/>
          </p:blipFill>
          <p:spPr>
            <a:xfrm>
              <a:off x="5449285" y="2761938"/>
              <a:ext cx="1286516" cy="1334137"/>
            </a:xfrm>
            <a:prstGeom prst="rect">
              <a:avLst/>
            </a:prstGeom>
          </p:spPr>
        </p:pic>
      </p:grpSp>
      <p:sp>
        <p:nvSpPr>
          <p:cNvPr id="9" name="Content Placeholder 8"/>
          <p:cNvSpPr>
            <a:spLocks noGrp="1"/>
          </p:cNvSpPr>
          <p:nvPr>
            <p:ph idx="1"/>
          </p:nvPr>
        </p:nvSpPr>
        <p:spPr>
          <a:xfrm>
            <a:off x="838200" y="1425426"/>
            <a:ext cx="10515600" cy="4351338"/>
          </a:xfrm>
        </p:spPr>
        <p:txBody>
          <a:bodyPr>
            <a:noAutofit/>
          </a:bodyPr>
          <a:lstStyle/>
          <a:p>
            <a:r>
              <a:rPr lang="en-IN" sz="2600" dirty="0"/>
              <a:t>Farmers face low profits due to the involvement of middlemen.</a:t>
            </a:r>
          </a:p>
          <a:p>
            <a:r>
              <a:rPr lang="en-IN" sz="2600" dirty="0"/>
              <a:t>Buyers do not always get fresh products at fair prices.</a:t>
            </a:r>
          </a:p>
          <a:p>
            <a:r>
              <a:rPr lang="en-IN" sz="2600" dirty="0"/>
              <a:t>There is no direct communication between farmers and consumers.</a:t>
            </a:r>
          </a:p>
          <a:p>
            <a:r>
              <a:rPr lang="en-IN" sz="2600" dirty="0"/>
              <a:t>Lack of a digital platform for farmers to list and manage products.</a:t>
            </a:r>
          </a:p>
        </p:txBody>
      </p:sp>
      <p:sp>
        <p:nvSpPr>
          <p:cNvPr id="11" name="TextBox 10">
            <a:extLst>
              <a:ext uri="{FF2B5EF4-FFF2-40B4-BE49-F238E27FC236}">
                <a16:creationId xmlns:a16="http://schemas.microsoft.com/office/drawing/2014/main" id="{B881FBBA-11E0-488F-0BB8-EDD0C9C17EB1}"/>
              </a:ext>
            </a:extLst>
          </p:cNvPr>
          <p:cNvSpPr txBox="1"/>
          <p:nvPr/>
        </p:nvSpPr>
        <p:spPr>
          <a:xfrm>
            <a:off x="1500049" y="486229"/>
            <a:ext cx="5017021" cy="769441"/>
          </a:xfrm>
          <a:prstGeom prst="rect">
            <a:avLst/>
          </a:prstGeom>
          <a:noFill/>
        </p:spPr>
        <p:txBody>
          <a:bodyPr wrap="square" rtlCol="0">
            <a:spAutoFit/>
          </a:bodyPr>
          <a:lstStyle/>
          <a:p>
            <a:pPr algn="ctr"/>
            <a:r>
              <a:rPr lang="en-IN" sz="4400" b="1" dirty="0">
                <a:latin typeface="Times New Roman" panose="02020603050405020304" pitchFamily="18" charset="0"/>
                <a:cs typeface="Times New Roman" panose="02020603050405020304" pitchFamily="18" charset="0"/>
              </a:rPr>
              <a:t> Problem Statement</a:t>
            </a:r>
          </a:p>
        </p:txBody>
      </p:sp>
    </p:spTree>
    <p:extLst>
      <p:ext uri="{BB962C8B-B14F-4D97-AF65-F5344CB8AC3E}">
        <p14:creationId xmlns:p14="http://schemas.microsoft.com/office/powerpoint/2010/main" val="2441580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rallelogram 6"/>
          <p:cNvSpPr/>
          <p:nvPr/>
        </p:nvSpPr>
        <p:spPr>
          <a:xfrm>
            <a:off x="353294" y="6549088"/>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sp>
        <p:nvSpPr>
          <p:cNvPr id="8" name="Parallelogram 6"/>
          <p:cNvSpPr/>
          <p:nvPr/>
        </p:nvSpPr>
        <p:spPr>
          <a:xfrm flipV="1">
            <a:off x="588480" y="56703"/>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grpSp>
        <p:nvGrpSpPr>
          <p:cNvPr id="6" name="Group 5"/>
          <p:cNvGrpSpPr/>
          <p:nvPr/>
        </p:nvGrpSpPr>
        <p:grpSpPr>
          <a:xfrm>
            <a:off x="0" y="25547"/>
            <a:ext cx="1180114" cy="1304655"/>
            <a:chOff x="5449285" y="2761938"/>
            <a:chExt cx="1289977" cy="1334137"/>
          </a:xfrm>
        </p:grpSpPr>
        <p:sp>
          <p:nvSpPr>
            <p:cNvPr id="4" name="Shape 454"/>
            <p:cNvSpPr/>
            <p:nvPr/>
          </p:nvSpPr>
          <p:spPr>
            <a:xfrm>
              <a:off x="5452746" y="2761938"/>
              <a:ext cx="1286516" cy="1334137"/>
            </a:xfrm>
            <a:custGeom>
              <a:avLst/>
              <a:gdLst/>
              <a:ahLst/>
              <a:cxnLst/>
              <a:rect l="0" t="0" r="0" b="0"/>
              <a:pathLst>
                <a:path w="1286905" h="1334619">
                  <a:moveTo>
                    <a:pt x="0" y="0"/>
                  </a:moveTo>
                  <a:lnTo>
                    <a:pt x="1286905" y="0"/>
                  </a:lnTo>
                  <a:lnTo>
                    <a:pt x="1286905" y="1334619"/>
                  </a:lnTo>
                  <a:lnTo>
                    <a:pt x="0" y="1334619"/>
                  </a:lnTo>
                  <a:lnTo>
                    <a:pt x="0" y="0"/>
                  </a:lnTo>
                </a:path>
              </a:pathLst>
            </a:custGeom>
            <a:ln w="0" cap="flat">
              <a:miter lim="127000"/>
            </a:ln>
          </p:spPr>
          <p:style>
            <a:lnRef idx="0">
              <a:srgbClr val="000000">
                <a:alpha val="0"/>
              </a:srgbClr>
            </a:lnRef>
            <a:fillRef idx="1">
              <a:srgbClr val="292929"/>
            </a:fillRef>
            <a:effectRef idx="0">
              <a:scrgbClr r="0" g="0" b="0"/>
            </a:effectRef>
            <a:fontRef idx="none"/>
          </p:style>
          <p:txBody>
            <a:bodyPr/>
            <a:lstStyle/>
            <a:p>
              <a:endParaRPr/>
            </a:p>
          </p:txBody>
        </p:sp>
        <p:pic>
          <p:nvPicPr>
            <p:cNvPr id="5" name="Picture 4"/>
            <p:cNvPicPr/>
            <p:nvPr/>
          </p:nvPicPr>
          <p:blipFill rotWithShape="1">
            <a:blip r:embed="rId2"/>
            <a:srcRect l="3435" t="5682" r="9680" b="18466"/>
            <a:stretch/>
          </p:blipFill>
          <p:spPr>
            <a:xfrm>
              <a:off x="5449285" y="2761938"/>
              <a:ext cx="1286516" cy="1334137"/>
            </a:xfrm>
            <a:prstGeom prst="rect">
              <a:avLst/>
            </a:prstGeom>
          </p:spPr>
        </p:pic>
      </p:grpSp>
      <p:sp>
        <p:nvSpPr>
          <p:cNvPr id="10" name="TextBox 9">
            <a:extLst>
              <a:ext uri="{FF2B5EF4-FFF2-40B4-BE49-F238E27FC236}">
                <a16:creationId xmlns:a16="http://schemas.microsoft.com/office/drawing/2014/main" id="{8095BC2B-24CF-6DF3-2577-63634C00B3CE}"/>
              </a:ext>
            </a:extLst>
          </p:cNvPr>
          <p:cNvSpPr txBox="1"/>
          <p:nvPr/>
        </p:nvSpPr>
        <p:spPr>
          <a:xfrm>
            <a:off x="1396538" y="488730"/>
            <a:ext cx="8077661" cy="769441"/>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Project Objectives</a:t>
            </a:r>
          </a:p>
        </p:txBody>
      </p:sp>
      <p:sp>
        <p:nvSpPr>
          <p:cNvPr id="11" name="Rectangle 1">
            <a:extLst>
              <a:ext uri="{FF2B5EF4-FFF2-40B4-BE49-F238E27FC236}">
                <a16:creationId xmlns:a16="http://schemas.microsoft.com/office/drawing/2014/main" id="{2EC7934C-9941-4BC0-CFA5-836A03604257}"/>
              </a:ext>
            </a:extLst>
          </p:cNvPr>
          <p:cNvSpPr>
            <a:spLocks noGrp="1" noChangeArrowheads="1"/>
          </p:cNvSpPr>
          <p:nvPr>
            <p:ph idx="1"/>
          </p:nvPr>
        </p:nvSpPr>
        <p:spPr bwMode="auto">
          <a:xfrm>
            <a:off x="662472" y="1569873"/>
            <a:ext cx="11089651" cy="240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IN" sz="2600" dirty="0">
                <a:latin typeface="Times New Roman" panose="02020603050405020304" pitchFamily="18" charset="0"/>
                <a:cs typeface="Times New Roman" panose="02020603050405020304" pitchFamily="18" charset="0"/>
              </a:rPr>
              <a:t>To create a digital marketplace for farmers and consumers.</a:t>
            </a:r>
          </a:p>
          <a:p>
            <a:r>
              <a:rPr lang="en-IN" sz="2600" dirty="0">
                <a:latin typeface="Times New Roman" panose="02020603050405020304" pitchFamily="18" charset="0"/>
                <a:cs typeface="Times New Roman" panose="02020603050405020304" pitchFamily="18" charset="0"/>
              </a:rPr>
              <a:t>To allow farmers to list agricultural products easily.</a:t>
            </a:r>
          </a:p>
          <a:p>
            <a:r>
              <a:rPr lang="en-IN" sz="2600" dirty="0">
                <a:latin typeface="Times New Roman" panose="02020603050405020304" pitchFamily="18" charset="0"/>
                <a:cs typeface="Times New Roman" panose="02020603050405020304" pitchFamily="18" charset="0"/>
              </a:rPr>
              <a:t>To enable buyers to purchase fresh farm products directly.</a:t>
            </a:r>
          </a:p>
          <a:p>
            <a:r>
              <a:rPr lang="en-IN" sz="2600" dirty="0">
                <a:latin typeface="Times New Roman" panose="02020603050405020304" pitchFamily="18" charset="0"/>
                <a:cs typeface="Times New Roman" panose="02020603050405020304" pitchFamily="18" charset="0"/>
              </a:rPr>
              <a:t>To reduce dependency on intermediaries.</a:t>
            </a:r>
          </a:p>
          <a:p>
            <a:r>
              <a:rPr lang="en-IN" sz="2600" dirty="0">
                <a:latin typeface="Times New Roman" panose="02020603050405020304" pitchFamily="18" charset="0"/>
                <a:cs typeface="Times New Roman" panose="02020603050405020304" pitchFamily="18" charset="0"/>
              </a:rPr>
              <a:t>To provide a simple and user-friendly web application.</a:t>
            </a:r>
          </a:p>
        </p:txBody>
      </p:sp>
    </p:spTree>
    <p:extLst>
      <p:ext uri="{BB962C8B-B14F-4D97-AF65-F5344CB8AC3E}">
        <p14:creationId xmlns:p14="http://schemas.microsoft.com/office/powerpoint/2010/main" val="3470229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215" y="393506"/>
            <a:ext cx="10515600" cy="1325556"/>
          </a:xfrm>
        </p:spPr>
        <p:txBody>
          <a:bodyPr/>
          <a:lstStyle/>
          <a:p>
            <a:br>
              <a:rPr>
                <a:cs typeface="Times New Roman"/>
              </a:rPr>
            </a:br>
            <a:endParaRPr>
              <a:cs typeface="Times New Roman"/>
            </a:endParaRPr>
          </a:p>
        </p:txBody>
      </p:sp>
      <p:sp>
        <p:nvSpPr>
          <p:cNvPr id="7" name="Parallelogram 6"/>
          <p:cNvSpPr/>
          <p:nvPr/>
        </p:nvSpPr>
        <p:spPr>
          <a:xfrm>
            <a:off x="353294" y="6549088"/>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sp>
        <p:nvSpPr>
          <p:cNvPr id="8" name="Parallelogram 6"/>
          <p:cNvSpPr/>
          <p:nvPr/>
        </p:nvSpPr>
        <p:spPr>
          <a:xfrm flipV="1">
            <a:off x="588480" y="56703"/>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grpSp>
        <p:nvGrpSpPr>
          <p:cNvPr id="6" name="Group 5"/>
          <p:cNvGrpSpPr/>
          <p:nvPr/>
        </p:nvGrpSpPr>
        <p:grpSpPr>
          <a:xfrm>
            <a:off x="0" y="25547"/>
            <a:ext cx="1180114" cy="1304655"/>
            <a:chOff x="5449285" y="2761938"/>
            <a:chExt cx="1289977" cy="1334137"/>
          </a:xfrm>
        </p:grpSpPr>
        <p:sp>
          <p:nvSpPr>
            <p:cNvPr id="4" name="Shape 454"/>
            <p:cNvSpPr/>
            <p:nvPr/>
          </p:nvSpPr>
          <p:spPr>
            <a:xfrm>
              <a:off x="5452746" y="2761938"/>
              <a:ext cx="1286516" cy="1334137"/>
            </a:xfrm>
            <a:custGeom>
              <a:avLst/>
              <a:gdLst/>
              <a:ahLst/>
              <a:cxnLst/>
              <a:rect l="0" t="0" r="0" b="0"/>
              <a:pathLst>
                <a:path w="1286905" h="1334619">
                  <a:moveTo>
                    <a:pt x="0" y="0"/>
                  </a:moveTo>
                  <a:lnTo>
                    <a:pt x="1286905" y="0"/>
                  </a:lnTo>
                  <a:lnTo>
                    <a:pt x="1286905" y="1334619"/>
                  </a:lnTo>
                  <a:lnTo>
                    <a:pt x="0" y="1334619"/>
                  </a:lnTo>
                  <a:lnTo>
                    <a:pt x="0" y="0"/>
                  </a:lnTo>
                </a:path>
              </a:pathLst>
            </a:custGeom>
            <a:ln w="0" cap="flat">
              <a:miter lim="127000"/>
            </a:ln>
          </p:spPr>
          <p:style>
            <a:lnRef idx="0">
              <a:srgbClr val="000000">
                <a:alpha val="0"/>
              </a:srgbClr>
            </a:lnRef>
            <a:fillRef idx="1">
              <a:srgbClr val="292929"/>
            </a:fillRef>
            <a:effectRef idx="0">
              <a:scrgbClr r="0" g="0" b="0"/>
            </a:effectRef>
            <a:fontRef idx="none"/>
          </p:style>
          <p:txBody>
            <a:bodyPr/>
            <a:lstStyle/>
            <a:p>
              <a:endParaRPr/>
            </a:p>
          </p:txBody>
        </p:sp>
        <p:pic>
          <p:nvPicPr>
            <p:cNvPr id="5" name="Picture 4"/>
            <p:cNvPicPr/>
            <p:nvPr/>
          </p:nvPicPr>
          <p:blipFill rotWithShape="1">
            <a:blip r:embed="rId2"/>
            <a:srcRect l="3435" t="5682" r="9680" b="18466"/>
            <a:stretch/>
          </p:blipFill>
          <p:spPr>
            <a:xfrm>
              <a:off x="5449285" y="2761938"/>
              <a:ext cx="1286516" cy="1334137"/>
            </a:xfrm>
            <a:prstGeom prst="rect">
              <a:avLst/>
            </a:prstGeom>
          </p:spPr>
        </p:pic>
      </p:grpSp>
      <p:sp>
        <p:nvSpPr>
          <p:cNvPr id="3" name="TextBox 2">
            <a:extLst>
              <a:ext uri="{FF2B5EF4-FFF2-40B4-BE49-F238E27FC236}">
                <a16:creationId xmlns:a16="http://schemas.microsoft.com/office/drawing/2014/main" id="{09D6492C-B677-EB05-59B7-948FF6A715CF}"/>
              </a:ext>
            </a:extLst>
          </p:cNvPr>
          <p:cNvSpPr txBox="1"/>
          <p:nvPr/>
        </p:nvSpPr>
        <p:spPr>
          <a:xfrm>
            <a:off x="1500049" y="438617"/>
            <a:ext cx="5305598" cy="769441"/>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Features</a:t>
            </a:r>
            <a:endParaRPr lang="en-IN" sz="4400"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794906" y="1569546"/>
            <a:ext cx="10515601" cy="4351338"/>
          </a:xfrm>
        </p:spPr>
        <p:txBody>
          <a:bodyPr>
            <a:noAutofit/>
          </a:bodyPr>
          <a:lstStyle/>
          <a:p>
            <a:pPr marL="0" indent="0">
              <a:buNone/>
            </a:pPr>
            <a:r>
              <a:rPr lang="en-IN" sz="2600" b="1" dirty="0">
                <a:latin typeface="Times New Roman" panose="02020603050405020304" pitchFamily="18" charset="0"/>
                <a:cs typeface="Times New Roman" panose="02020603050405020304" pitchFamily="18" charset="0"/>
              </a:rPr>
              <a:t>Farmer Features</a:t>
            </a:r>
          </a:p>
          <a:p>
            <a:r>
              <a:rPr lang="en-IN" sz="2600" dirty="0">
                <a:latin typeface="Times New Roman" panose="02020603050405020304" pitchFamily="18" charset="0"/>
                <a:cs typeface="Times New Roman" panose="02020603050405020304" pitchFamily="18" charset="0"/>
              </a:rPr>
              <a:t>Farmer login and registration</a:t>
            </a:r>
          </a:p>
          <a:p>
            <a:r>
              <a:rPr lang="en-IN" sz="2600" dirty="0">
                <a:latin typeface="Times New Roman" panose="02020603050405020304" pitchFamily="18" charset="0"/>
                <a:cs typeface="Times New Roman" panose="02020603050405020304" pitchFamily="18" charset="0"/>
              </a:rPr>
              <a:t>Add and manage product listings</a:t>
            </a:r>
          </a:p>
          <a:p>
            <a:r>
              <a:rPr lang="en-IN" sz="2600" dirty="0">
                <a:latin typeface="Times New Roman" panose="02020603050405020304" pitchFamily="18" charset="0"/>
                <a:cs typeface="Times New Roman" panose="02020603050405020304" pitchFamily="18" charset="0"/>
              </a:rPr>
              <a:t>Enter product details such as price, category, and location</a:t>
            </a:r>
          </a:p>
          <a:p>
            <a:r>
              <a:rPr lang="en-IN" sz="2600" dirty="0">
                <a:latin typeface="Times New Roman" panose="02020603050405020304" pitchFamily="18" charset="0"/>
                <a:cs typeface="Times New Roman" panose="02020603050405020304" pitchFamily="18" charset="0"/>
              </a:rPr>
              <a:t>Receive purchase requests from buyers</a:t>
            </a:r>
          </a:p>
          <a:p>
            <a:pPr marL="0" indent="0">
              <a:buNone/>
            </a:pPr>
            <a:r>
              <a:rPr lang="en-IN" sz="2600" b="1" dirty="0">
                <a:latin typeface="Times New Roman" panose="02020603050405020304" pitchFamily="18" charset="0"/>
                <a:cs typeface="Times New Roman" panose="02020603050405020304" pitchFamily="18" charset="0"/>
              </a:rPr>
              <a:t>Buyer Features</a:t>
            </a:r>
          </a:p>
          <a:p>
            <a:r>
              <a:rPr lang="en-IN" sz="2600" dirty="0">
                <a:latin typeface="Times New Roman" panose="02020603050405020304" pitchFamily="18" charset="0"/>
                <a:cs typeface="Times New Roman" panose="02020603050405020304" pitchFamily="18" charset="0"/>
              </a:rPr>
              <a:t>Browse the farmer marketplace</a:t>
            </a:r>
          </a:p>
          <a:p>
            <a:r>
              <a:rPr lang="en-IN" sz="2600" dirty="0">
                <a:latin typeface="Times New Roman" panose="02020603050405020304" pitchFamily="18" charset="0"/>
                <a:cs typeface="Times New Roman" panose="02020603050405020304" pitchFamily="18" charset="0"/>
              </a:rPr>
              <a:t>View product details</a:t>
            </a:r>
          </a:p>
          <a:p>
            <a:r>
              <a:rPr lang="en-IN" sz="2600" dirty="0">
                <a:latin typeface="Times New Roman" panose="02020603050405020304" pitchFamily="18" charset="0"/>
                <a:cs typeface="Times New Roman" panose="02020603050405020304" pitchFamily="18" charset="0"/>
              </a:rPr>
              <a:t>Search and filter products</a:t>
            </a:r>
          </a:p>
          <a:p>
            <a:r>
              <a:rPr lang="en-IN" sz="2600" dirty="0">
                <a:latin typeface="Times New Roman" panose="02020603050405020304" pitchFamily="18" charset="0"/>
                <a:cs typeface="Times New Roman" panose="02020603050405020304" pitchFamily="18" charset="0"/>
              </a:rPr>
              <a:t>Send purchase requests to farmers</a:t>
            </a:r>
          </a:p>
          <a:p>
            <a:endParaRPr lang="en-IN" sz="2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92124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Parallelogram 6"/>
          <p:cNvSpPr/>
          <p:nvPr/>
        </p:nvSpPr>
        <p:spPr>
          <a:xfrm>
            <a:off x="353294" y="6549088"/>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sp>
        <p:nvSpPr>
          <p:cNvPr id="8" name="Parallelogram 6"/>
          <p:cNvSpPr/>
          <p:nvPr/>
        </p:nvSpPr>
        <p:spPr>
          <a:xfrm flipV="1">
            <a:off x="588480" y="56703"/>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grpSp>
        <p:nvGrpSpPr>
          <p:cNvPr id="6" name="Group 5"/>
          <p:cNvGrpSpPr/>
          <p:nvPr/>
        </p:nvGrpSpPr>
        <p:grpSpPr>
          <a:xfrm>
            <a:off x="0" y="25547"/>
            <a:ext cx="1180114" cy="1304655"/>
            <a:chOff x="5449285" y="2761938"/>
            <a:chExt cx="1289977" cy="1334137"/>
          </a:xfrm>
        </p:grpSpPr>
        <p:sp>
          <p:nvSpPr>
            <p:cNvPr id="4" name="Shape 454"/>
            <p:cNvSpPr/>
            <p:nvPr/>
          </p:nvSpPr>
          <p:spPr>
            <a:xfrm>
              <a:off x="5452746" y="2761938"/>
              <a:ext cx="1286516" cy="1334137"/>
            </a:xfrm>
            <a:custGeom>
              <a:avLst/>
              <a:gdLst/>
              <a:ahLst/>
              <a:cxnLst/>
              <a:rect l="0" t="0" r="0" b="0"/>
              <a:pathLst>
                <a:path w="1286905" h="1334619">
                  <a:moveTo>
                    <a:pt x="0" y="0"/>
                  </a:moveTo>
                  <a:lnTo>
                    <a:pt x="1286905" y="0"/>
                  </a:lnTo>
                  <a:lnTo>
                    <a:pt x="1286905" y="1334619"/>
                  </a:lnTo>
                  <a:lnTo>
                    <a:pt x="0" y="1334619"/>
                  </a:lnTo>
                  <a:lnTo>
                    <a:pt x="0" y="0"/>
                  </a:lnTo>
                </a:path>
              </a:pathLst>
            </a:custGeom>
            <a:ln w="0" cap="flat">
              <a:miter lim="127000"/>
            </a:ln>
          </p:spPr>
          <p:style>
            <a:lnRef idx="0">
              <a:srgbClr val="000000">
                <a:alpha val="0"/>
              </a:srgbClr>
            </a:lnRef>
            <a:fillRef idx="1">
              <a:srgbClr val="292929"/>
            </a:fillRef>
            <a:effectRef idx="0">
              <a:scrgbClr r="0" g="0" b="0"/>
            </a:effectRef>
            <a:fontRef idx="none"/>
          </p:style>
          <p:txBody>
            <a:bodyPr/>
            <a:lstStyle/>
            <a:p>
              <a:endParaRPr/>
            </a:p>
          </p:txBody>
        </p:sp>
        <p:pic>
          <p:nvPicPr>
            <p:cNvPr id="5" name="Picture 4"/>
            <p:cNvPicPr/>
            <p:nvPr/>
          </p:nvPicPr>
          <p:blipFill rotWithShape="1">
            <a:blip r:embed="rId2"/>
            <a:srcRect l="3435" t="5682" r="9680" b="18466"/>
            <a:stretch/>
          </p:blipFill>
          <p:spPr>
            <a:xfrm>
              <a:off x="5449285" y="2761938"/>
              <a:ext cx="1286516" cy="1334137"/>
            </a:xfrm>
            <a:prstGeom prst="rect">
              <a:avLst/>
            </a:prstGeom>
          </p:spPr>
        </p:pic>
      </p:grpSp>
      <p:sp>
        <p:nvSpPr>
          <p:cNvPr id="9" name="Content Placeholder 8"/>
          <p:cNvSpPr>
            <a:spLocks noGrp="1"/>
          </p:cNvSpPr>
          <p:nvPr>
            <p:ph idx="1"/>
          </p:nvPr>
        </p:nvSpPr>
        <p:spPr>
          <a:xfrm>
            <a:off x="811762" y="1567088"/>
            <a:ext cx="10808737" cy="3851101"/>
          </a:xfrm>
        </p:spPr>
        <p:txBody>
          <a:bodyPr>
            <a:noAutofit/>
          </a:bodyPr>
          <a:lstStyle/>
          <a:p>
            <a:r>
              <a:rPr lang="en-IN" sz="2600" dirty="0">
                <a:latin typeface="Times New Roman" panose="02020603050405020304" pitchFamily="18" charset="0"/>
                <a:cs typeface="Times New Roman" panose="02020603050405020304" pitchFamily="18" charset="0"/>
              </a:rPr>
              <a:t>Developed using **React.js with </a:t>
            </a:r>
            <a:r>
              <a:rPr lang="en-IN" sz="2600" dirty="0" err="1">
                <a:latin typeface="Times New Roman" panose="02020603050405020304" pitchFamily="18" charset="0"/>
                <a:cs typeface="Times New Roman" panose="02020603050405020304" pitchFamily="18" charset="0"/>
              </a:rPr>
              <a:t>Vite</a:t>
            </a:r>
            <a:r>
              <a:rPr lang="en-IN" sz="2600" dirty="0">
                <a:latin typeface="Times New Roman" panose="02020603050405020304" pitchFamily="18" charset="0"/>
                <a:cs typeface="Times New Roman" panose="02020603050405020304" pitchFamily="18" charset="0"/>
              </a:rPr>
              <a:t>**</a:t>
            </a:r>
          </a:p>
          <a:p>
            <a:r>
              <a:rPr lang="en-IN" sz="2600" dirty="0">
                <a:latin typeface="Times New Roman" panose="02020603050405020304" pitchFamily="18" charset="0"/>
                <a:cs typeface="Times New Roman" panose="02020603050405020304" pitchFamily="18" charset="0"/>
              </a:rPr>
              <a:t>Styled using **Tailwind CSS**</a:t>
            </a:r>
          </a:p>
          <a:p>
            <a:r>
              <a:rPr lang="en-IN" sz="2600" dirty="0">
                <a:latin typeface="Times New Roman" panose="02020603050405020304" pitchFamily="18" charset="0"/>
                <a:cs typeface="Times New Roman" panose="02020603050405020304" pitchFamily="18" charset="0"/>
              </a:rPr>
              <a:t>Responsive design for desktop and mobile</a:t>
            </a:r>
          </a:p>
          <a:p>
            <a:r>
              <a:rPr lang="en-IN" sz="2600" dirty="0">
                <a:latin typeface="Times New Roman" panose="02020603050405020304" pitchFamily="18" charset="0"/>
                <a:cs typeface="Times New Roman" panose="02020603050405020304" pitchFamily="18" charset="0"/>
              </a:rPr>
              <a:t>User-friendly interface for easy navigation</a:t>
            </a:r>
          </a:p>
        </p:txBody>
      </p:sp>
      <p:sp>
        <p:nvSpPr>
          <p:cNvPr id="10" name="Title 9">
            <a:extLst>
              <a:ext uri="{FF2B5EF4-FFF2-40B4-BE49-F238E27FC236}">
                <a16:creationId xmlns:a16="http://schemas.microsoft.com/office/drawing/2014/main" id="{EF4F9967-2464-AEB1-A614-5B7949D3190B}"/>
              </a:ext>
            </a:extLst>
          </p:cNvPr>
          <p:cNvSpPr>
            <a:spLocks noGrp="1"/>
          </p:cNvSpPr>
          <p:nvPr>
            <p:ph type="title"/>
          </p:nvPr>
        </p:nvSpPr>
        <p:spPr>
          <a:xfrm>
            <a:off x="1334894" y="218884"/>
            <a:ext cx="8012306" cy="1325563"/>
          </a:xfrm>
        </p:spPr>
        <p:txBody>
          <a:bodyPr>
            <a:normAutofit/>
          </a:bodyPr>
          <a:lstStyle/>
          <a:p>
            <a:r>
              <a:rPr lang="en-IN" b="1" dirty="0">
                <a:latin typeface="Times New Roman" panose="02020603050405020304" pitchFamily="18" charset="0"/>
                <a:cs typeface="Times New Roman" panose="02020603050405020304" pitchFamily="18" charset="0"/>
              </a:rPr>
              <a:t>Frontend Overview</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1215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215" y="393506"/>
            <a:ext cx="10515600" cy="1325556"/>
          </a:xfrm>
        </p:spPr>
        <p:txBody>
          <a:bodyPr/>
          <a:lstStyle/>
          <a:p>
            <a:br>
              <a:rPr>
                <a:cs typeface="Times New Roman"/>
              </a:rPr>
            </a:br>
            <a:endParaRPr>
              <a:cs typeface="Times New Roman"/>
            </a:endParaRPr>
          </a:p>
        </p:txBody>
      </p:sp>
      <p:sp>
        <p:nvSpPr>
          <p:cNvPr id="7" name="Parallelogram 6"/>
          <p:cNvSpPr/>
          <p:nvPr/>
        </p:nvSpPr>
        <p:spPr>
          <a:xfrm>
            <a:off x="353294" y="6549088"/>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sp>
        <p:nvSpPr>
          <p:cNvPr id="8" name="Parallelogram 6"/>
          <p:cNvSpPr/>
          <p:nvPr/>
        </p:nvSpPr>
        <p:spPr>
          <a:xfrm flipV="1">
            <a:off x="588480" y="56703"/>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grpSp>
        <p:nvGrpSpPr>
          <p:cNvPr id="6" name="Group 5"/>
          <p:cNvGrpSpPr/>
          <p:nvPr/>
        </p:nvGrpSpPr>
        <p:grpSpPr>
          <a:xfrm>
            <a:off x="0" y="25547"/>
            <a:ext cx="1180114" cy="1304655"/>
            <a:chOff x="5449285" y="2761938"/>
            <a:chExt cx="1289977" cy="1334137"/>
          </a:xfrm>
        </p:grpSpPr>
        <p:sp>
          <p:nvSpPr>
            <p:cNvPr id="4" name="Shape 454"/>
            <p:cNvSpPr/>
            <p:nvPr/>
          </p:nvSpPr>
          <p:spPr>
            <a:xfrm>
              <a:off x="5452746" y="2761938"/>
              <a:ext cx="1286516" cy="1334137"/>
            </a:xfrm>
            <a:custGeom>
              <a:avLst/>
              <a:gdLst/>
              <a:ahLst/>
              <a:cxnLst/>
              <a:rect l="0" t="0" r="0" b="0"/>
              <a:pathLst>
                <a:path w="1286905" h="1334619">
                  <a:moveTo>
                    <a:pt x="0" y="0"/>
                  </a:moveTo>
                  <a:lnTo>
                    <a:pt x="1286905" y="0"/>
                  </a:lnTo>
                  <a:lnTo>
                    <a:pt x="1286905" y="1334619"/>
                  </a:lnTo>
                  <a:lnTo>
                    <a:pt x="0" y="1334619"/>
                  </a:lnTo>
                  <a:lnTo>
                    <a:pt x="0" y="0"/>
                  </a:lnTo>
                </a:path>
              </a:pathLst>
            </a:custGeom>
            <a:ln w="0" cap="flat">
              <a:miter lim="127000"/>
            </a:ln>
          </p:spPr>
          <p:style>
            <a:lnRef idx="0">
              <a:srgbClr val="000000">
                <a:alpha val="0"/>
              </a:srgbClr>
            </a:lnRef>
            <a:fillRef idx="1">
              <a:srgbClr val="292929"/>
            </a:fillRef>
            <a:effectRef idx="0">
              <a:scrgbClr r="0" g="0" b="0"/>
            </a:effectRef>
            <a:fontRef idx="none"/>
          </p:style>
          <p:txBody>
            <a:bodyPr/>
            <a:lstStyle/>
            <a:p>
              <a:endParaRPr/>
            </a:p>
          </p:txBody>
        </p:sp>
        <p:pic>
          <p:nvPicPr>
            <p:cNvPr id="5" name="Picture 4"/>
            <p:cNvPicPr/>
            <p:nvPr/>
          </p:nvPicPr>
          <p:blipFill rotWithShape="1">
            <a:blip r:embed="rId2"/>
            <a:srcRect l="3435" t="5682" r="9680" b="18466"/>
            <a:stretch/>
          </p:blipFill>
          <p:spPr>
            <a:xfrm>
              <a:off x="5449285" y="2761938"/>
              <a:ext cx="1286516" cy="1334137"/>
            </a:xfrm>
            <a:prstGeom prst="rect">
              <a:avLst/>
            </a:prstGeom>
          </p:spPr>
        </p:pic>
      </p:grpSp>
      <p:sp>
        <p:nvSpPr>
          <p:cNvPr id="3" name="TextBox 2">
            <a:extLst>
              <a:ext uri="{FF2B5EF4-FFF2-40B4-BE49-F238E27FC236}">
                <a16:creationId xmlns:a16="http://schemas.microsoft.com/office/drawing/2014/main" id="{71332650-06D4-800D-FB78-0884C60E84C8}"/>
              </a:ext>
            </a:extLst>
          </p:cNvPr>
          <p:cNvSpPr txBox="1"/>
          <p:nvPr/>
        </p:nvSpPr>
        <p:spPr>
          <a:xfrm>
            <a:off x="1315720" y="438617"/>
            <a:ext cx="7606243" cy="769441"/>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Backend Overview</a:t>
            </a:r>
            <a:endParaRPr lang="en-IN" sz="4400" dirty="0">
              <a:latin typeface="Times New Roman" panose="02020603050405020304" pitchFamily="18" charset="0"/>
              <a:cs typeface="Times New Roman" panose="02020603050405020304" pitchFamily="18" charset="0"/>
            </a:endParaRPr>
          </a:p>
        </p:txBody>
      </p:sp>
      <p:sp>
        <p:nvSpPr>
          <p:cNvPr id="9" name="Content Placeholder 8"/>
          <p:cNvSpPr>
            <a:spLocks noGrp="1"/>
          </p:cNvSpPr>
          <p:nvPr>
            <p:ph idx="1"/>
          </p:nvPr>
        </p:nvSpPr>
        <p:spPr>
          <a:xfrm>
            <a:off x="838200" y="1536700"/>
            <a:ext cx="10515600" cy="4640263"/>
          </a:xfrm>
        </p:spPr>
        <p:txBody>
          <a:bodyPr>
            <a:normAutofit/>
          </a:bodyPr>
          <a:lstStyle/>
          <a:p>
            <a:r>
              <a:rPr lang="en-IN" sz="2600" dirty="0" err="1">
                <a:latin typeface="Times New Roman" panose="02020603050405020304" pitchFamily="18" charset="0"/>
                <a:cs typeface="Times New Roman" panose="02020603050405020304" pitchFamily="18" charset="0"/>
              </a:rPr>
              <a:t>RESTful</a:t>
            </a:r>
            <a:r>
              <a:rPr lang="en-IN" sz="2600" dirty="0">
                <a:latin typeface="Times New Roman" panose="02020603050405020304" pitchFamily="18" charset="0"/>
                <a:cs typeface="Times New Roman" panose="02020603050405020304" pitchFamily="18" charset="0"/>
              </a:rPr>
              <a:t> backend architecture</a:t>
            </a:r>
          </a:p>
          <a:p>
            <a:r>
              <a:rPr lang="en-IN" sz="2600" dirty="0">
                <a:latin typeface="Times New Roman" panose="02020603050405020304" pitchFamily="18" charset="0"/>
                <a:cs typeface="Times New Roman" panose="02020603050405020304" pitchFamily="18" charset="0"/>
              </a:rPr>
              <a:t>Handles authentication and product management</a:t>
            </a:r>
          </a:p>
          <a:p>
            <a:r>
              <a:rPr lang="en-IN" sz="2600" dirty="0">
                <a:latin typeface="Times New Roman" panose="02020603050405020304" pitchFamily="18" charset="0"/>
                <a:cs typeface="Times New Roman" panose="02020603050405020304" pitchFamily="18" charset="0"/>
              </a:rPr>
              <a:t>Manages user and product data</a:t>
            </a:r>
          </a:p>
          <a:p>
            <a:r>
              <a:rPr lang="en-IN" sz="2600" dirty="0">
                <a:latin typeface="Times New Roman" panose="02020603050405020304" pitchFamily="18" charset="0"/>
                <a:cs typeface="Times New Roman" panose="02020603050405020304" pitchFamily="18" charset="0"/>
              </a:rPr>
              <a:t>API-based communication between frontend and backend</a:t>
            </a:r>
          </a:p>
        </p:txBody>
      </p:sp>
    </p:spTree>
    <p:extLst>
      <p:ext uri="{BB962C8B-B14F-4D97-AF65-F5344CB8AC3E}">
        <p14:creationId xmlns:p14="http://schemas.microsoft.com/office/powerpoint/2010/main" val="4094273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215" y="393506"/>
            <a:ext cx="10515600" cy="1325556"/>
          </a:xfrm>
        </p:spPr>
        <p:txBody>
          <a:bodyPr/>
          <a:lstStyle/>
          <a:p>
            <a:br>
              <a:rPr dirty="0">
                <a:cs typeface="Times New Roman"/>
              </a:rPr>
            </a:br>
            <a:endParaRPr dirty="0">
              <a:cs typeface="Times New Roman"/>
            </a:endParaRPr>
          </a:p>
        </p:txBody>
      </p:sp>
      <p:sp>
        <p:nvSpPr>
          <p:cNvPr id="7" name="Parallelogram 6"/>
          <p:cNvSpPr/>
          <p:nvPr/>
        </p:nvSpPr>
        <p:spPr>
          <a:xfrm>
            <a:off x="353294" y="6549088"/>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sp>
        <p:nvSpPr>
          <p:cNvPr id="8" name="Parallelogram 6"/>
          <p:cNvSpPr/>
          <p:nvPr/>
        </p:nvSpPr>
        <p:spPr>
          <a:xfrm flipV="1">
            <a:off x="588480" y="56703"/>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grpSp>
        <p:nvGrpSpPr>
          <p:cNvPr id="6" name="Group 5"/>
          <p:cNvGrpSpPr/>
          <p:nvPr/>
        </p:nvGrpSpPr>
        <p:grpSpPr>
          <a:xfrm>
            <a:off x="0" y="25547"/>
            <a:ext cx="1180114" cy="1304655"/>
            <a:chOff x="5449285" y="2761938"/>
            <a:chExt cx="1289977" cy="1334137"/>
          </a:xfrm>
        </p:grpSpPr>
        <p:sp>
          <p:nvSpPr>
            <p:cNvPr id="4" name="Shape 454"/>
            <p:cNvSpPr/>
            <p:nvPr/>
          </p:nvSpPr>
          <p:spPr>
            <a:xfrm>
              <a:off x="5452746" y="2761938"/>
              <a:ext cx="1286516" cy="1334137"/>
            </a:xfrm>
            <a:custGeom>
              <a:avLst/>
              <a:gdLst/>
              <a:ahLst/>
              <a:cxnLst/>
              <a:rect l="0" t="0" r="0" b="0"/>
              <a:pathLst>
                <a:path w="1286905" h="1334619">
                  <a:moveTo>
                    <a:pt x="0" y="0"/>
                  </a:moveTo>
                  <a:lnTo>
                    <a:pt x="1286905" y="0"/>
                  </a:lnTo>
                  <a:lnTo>
                    <a:pt x="1286905" y="1334619"/>
                  </a:lnTo>
                  <a:lnTo>
                    <a:pt x="0" y="1334619"/>
                  </a:lnTo>
                  <a:lnTo>
                    <a:pt x="0" y="0"/>
                  </a:lnTo>
                </a:path>
              </a:pathLst>
            </a:custGeom>
            <a:ln w="0" cap="flat">
              <a:miter lim="127000"/>
            </a:ln>
          </p:spPr>
          <p:style>
            <a:lnRef idx="0">
              <a:srgbClr val="000000">
                <a:alpha val="0"/>
              </a:srgbClr>
            </a:lnRef>
            <a:fillRef idx="1">
              <a:srgbClr val="292929"/>
            </a:fillRef>
            <a:effectRef idx="0">
              <a:scrgbClr r="0" g="0" b="0"/>
            </a:effectRef>
            <a:fontRef idx="none"/>
          </p:style>
          <p:txBody>
            <a:bodyPr/>
            <a:lstStyle/>
            <a:p>
              <a:endParaRPr/>
            </a:p>
          </p:txBody>
        </p:sp>
        <p:pic>
          <p:nvPicPr>
            <p:cNvPr id="5" name="Picture 4"/>
            <p:cNvPicPr/>
            <p:nvPr/>
          </p:nvPicPr>
          <p:blipFill rotWithShape="1">
            <a:blip r:embed="rId2"/>
            <a:srcRect l="3435" t="5682" r="9680" b="18466"/>
            <a:stretch/>
          </p:blipFill>
          <p:spPr>
            <a:xfrm>
              <a:off x="5449285" y="2761938"/>
              <a:ext cx="1286516" cy="1334137"/>
            </a:xfrm>
            <a:prstGeom prst="rect">
              <a:avLst/>
            </a:prstGeom>
          </p:spPr>
        </p:pic>
      </p:grpSp>
      <p:sp>
        <p:nvSpPr>
          <p:cNvPr id="9" name="Content Placeholder 8"/>
          <p:cNvSpPr>
            <a:spLocks noGrp="1"/>
          </p:cNvSpPr>
          <p:nvPr>
            <p:ph idx="1"/>
          </p:nvPr>
        </p:nvSpPr>
        <p:spPr>
          <a:xfrm>
            <a:off x="353294" y="1674638"/>
            <a:ext cx="10957214" cy="4485590"/>
          </a:xfrm>
        </p:spPr>
        <p:txBody>
          <a:bodyPr>
            <a:normAutofit/>
          </a:bodyPr>
          <a:lstStyle/>
          <a:p>
            <a:pPr marL="0" indent="0">
              <a:buNone/>
            </a:pPr>
            <a:r>
              <a:rPr lang="en-IN" sz="2600" dirty="0" err="1">
                <a:latin typeface="Times New Roman" panose="02020603050405020304" pitchFamily="18" charset="0"/>
                <a:cs typeface="Times New Roman" panose="02020603050405020304" pitchFamily="18" charset="0"/>
              </a:rPr>
              <a:t>CropCart</a:t>
            </a:r>
            <a:r>
              <a:rPr lang="en-IN" sz="2600" dirty="0">
                <a:latin typeface="Times New Roman" panose="02020603050405020304" pitchFamily="18" charset="0"/>
                <a:cs typeface="Times New Roman" panose="02020603050405020304" pitchFamily="18" charset="0"/>
              </a:rPr>
              <a:t>/farmer marketplace</a:t>
            </a:r>
          </a:p>
          <a:p>
            <a:r>
              <a:rPr lang="en-IN" sz="2600" dirty="0">
                <a:latin typeface="Times New Roman" panose="02020603050405020304" pitchFamily="18" charset="0"/>
                <a:cs typeface="Times New Roman" panose="02020603050405020304" pitchFamily="18" charset="0"/>
              </a:rPr>
              <a:t> index.html</a:t>
            </a:r>
          </a:p>
          <a:p>
            <a:r>
              <a:rPr lang="en-IN" sz="2600" dirty="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package.json</a:t>
            </a:r>
            <a:endParaRPr lang="en-IN" sz="2600" dirty="0">
              <a:latin typeface="Times New Roman" panose="02020603050405020304" pitchFamily="18" charset="0"/>
              <a:cs typeface="Times New Roman" panose="02020603050405020304" pitchFamily="18" charset="0"/>
            </a:endParaRPr>
          </a:p>
          <a:p>
            <a:r>
              <a:rPr lang="en-IN" sz="2600" dirty="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postcss.config.j</a:t>
            </a:r>
            <a:endParaRPr lang="en-IN" sz="2600" dirty="0">
              <a:latin typeface="Times New Roman" panose="02020603050405020304" pitchFamily="18" charset="0"/>
              <a:cs typeface="Times New Roman" panose="02020603050405020304" pitchFamily="18" charset="0"/>
            </a:endParaRPr>
          </a:p>
          <a:p>
            <a:r>
              <a:rPr lang="en-IN" sz="2600" dirty="0">
                <a:latin typeface="Times New Roman" panose="02020603050405020304" pitchFamily="18" charset="0"/>
                <a:cs typeface="Times New Roman" panose="02020603050405020304" pitchFamily="18" charset="0"/>
              </a:rPr>
              <a:t> tailwind.config.js</a:t>
            </a:r>
          </a:p>
          <a:p>
            <a:r>
              <a:rPr lang="en-IN" sz="2600" dirty="0">
                <a:latin typeface="Times New Roman" panose="02020603050405020304" pitchFamily="18" charset="0"/>
                <a:cs typeface="Times New Roman" panose="02020603050405020304" pitchFamily="18" charset="0"/>
              </a:rPr>
              <a:t> postcss.config.js</a:t>
            </a:r>
          </a:p>
          <a:p>
            <a:r>
              <a:rPr lang="en-IN" sz="2600" dirty="0">
                <a:latin typeface="Times New Roman" panose="02020603050405020304" pitchFamily="18" charset="0"/>
                <a:cs typeface="Times New Roman" panose="02020603050405020304" pitchFamily="18" charset="0"/>
              </a:rPr>
              <a:t> </a:t>
            </a:r>
            <a:r>
              <a:rPr lang="en-IN" sz="2600" dirty="0" err="1">
                <a:latin typeface="Times New Roman" panose="02020603050405020304" pitchFamily="18" charset="0"/>
                <a:cs typeface="Times New Roman" panose="02020603050405020304" pitchFamily="18" charset="0"/>
              </a:rPr>
              <a:t>vite.conflig.ts</a:t>
            </a:r>
            <a:endParaRPr lang="en-IN" sz="2600" dirty="0">
              <a:latin typeface="Times New Roman" panose="02020603050405020304" pitchFamily="18" charset="0"/>
              <a:cs typeface="Times New Roman" panose="02020603050405020304" pitchFamily="18" charset="0"/>
            </a:endParaRPr>
          </a:p>
          <a:p>
            <a:r>
              <a:rPr lang="en-IN" sz="2600" dirty="0">
                <a:latin typeface="Times New Roman" panose="02020603050405020304" pitchFamily="18" charset="0"/>
                <a:cs typeface="Times New Roman" panose="02020603050405020304" pitchFamily="18" charset="0"/>
              </a:rPr>
              <a:t> eslint.config.js</a:t>
            </a:r>
          </a:p>
          <a:p>
            <a:pPr marL="0" indent="0">
              <a:buNone/>
            </a:pPr>
            <a:r>
              <a:rPr lang="en-IN" sz="2600" dirty="0">
                <a:latin typeface="Times New Roman" panose="02020603050405020304" pitchFamily="18" charset="0"/>
                <a:cs typeface="Times New Roman" panose="02020603050405020304" pitchFamily="18" charset="0"/>
              </a:rPr>
              <a:t> </a:t>
            </a:r>
          </a:p>
          <a:p>
            <a:pPr marL="0" indent="0" algn="just">
              <a:buNone/>
            </a:pPr>
            <a:endParaRPr dirty="0"/>
          </a:p>
        </p:txBody>
      </p:sp>
      <p:sp>
        <p:nvSpPr>
          <p:cNvPr id="3" name="TextBox 2">
            <a:extLst>
              <a:ext uri="{FF2B5EF4-FFF2-40B4-BE49-F238E27FC236}">
                <a16:creationId xmlns:a16="http://schemas.microsoft.com/office/drawing/2014/main" id="{69089E3F-4A07-D9CD-3056-136B1EFD6E64}"/>
              </a:ext>
            </a:extLst>
          </p:cNvPr>
          <p:cNvSpPr txBox="1"/>
          <p:nvPr/>
        </p:nvSpPr>
        <p:spPr>
          <a:xfrm>
            <a:off x="1358900" y="581890"/>
            <a:ext cx="10393223" cy="769441"/>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Project Structure</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7849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215" y="393506"/>
            <a:ext cx="10515600" cy="1325556"/>
          </a:xfrm>
        </p:spPr>
        <p:txBody>
          <a:bodyPr/>
          <a:lstStyle/>
          <a:p>
            <a:br>
              <a:rPr dirty="0">
                <a:cs typeface="Times New Roman"/>
              </a:rPr>
            </a:br>
            <a:endParaRPr dirty="0">
              <a:cs typeface="Times New Roman"/>
            </a:endParaRPr>
          </a:p>
        </p:txBody>
      </p:sp>
      <p:sp>
        <p:nvSpPr>
          <p:cNvPr id="7" name="Parallelogram 6"/>
          <p:cNvSpPr/>
          <p:nvPr/>
        </p:nvSpPr>
        <p:spPr>
          <a:xfrm>
            <a:off x="353294" y="6549088"/>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sp>
        <p:nvSpPr>
          <p:cNvPr id="8" name="Parallelogram 6"/>
          <p:cNvSpPr/>
          <p:nvPr/>
        </p:nvSpPr>
        <p:spPr>
          <a:xfrm flipV="1">
            <a:off x="588480" y="56703"/>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grpSp>
        <p:nvGrpSpPr>
          <p:cNvPr id="6" name="Group 5"/>
          <p:cNvGrpSpPr/>
          <p:nvPr/>
        </p:nvGrpSpPr>
        <p:grpSpPr>
          <a:xfrm>
            <a:off x="0" y="25547"/>
            <a:ext cx="1180114" cy="1304655"/>
            <a:chOff x="5449285" y="2761938"/>
            <a:chExt cx="1289977" cy="1334137"/>
          </a:xfrm>
        </p:grpSpPr>
        <p:sp>
          <p:nvSpPr>
            <p:cNvPr id="4" name="Shape 454"/>
            <p:cNvSpPr/>
            <p:nvPr/>
          </p:nvSpPr>
          <p:spPr>
            <a:xfrm>
              <a:off x="5452746" y="2761938"/>
              <a:ext cx="1286516" cy="1334137"/>
            </a:xfrm>
            <a:custGeom>
              <a:avLst/>
              <a:gdLst/>
              <a:ahLst/>
              <a:cxnLst/>
              <a:rect l="0" t="0" r="0" b="0"/>
              <a:pathLst>
                <a:path w="1286905" h="1334619">
                  <a:moveTo>
                    <a:pt x="0" y="0"/>
                  </a:moveTo>
                  <a:lnTo>
                    <a:pt x="1286905" y="0"/>
                  </a:lnTo>
                  <a:lnTo>
                    <a:pt x="1286905" y="1334619"/>
                  </a:lnTo>
                  <a:lnTo>
                    <a:pt x="0" y="1334619"/>
                  </a:lnTo>
                  <a:lnTo>
                    <a:pt x="0" y="0"/>
                  </a:lnTo>
                </a:path>
              </a:pathLst>
            </a:custGeom>
            <a:ln w="0" cap="flat">
              <a:miter lim="127000"/>
            </a:ln>
          </p:spPr>
          <p:style>
            <a:lnRef idx="0">
              <a:srgbClr val="000000">
                <a:alpha val="0"/>
              </a:srgbClr>
            </a:lnRef>
            <a:fillRef idx="1">
              <a:srgbClr val="292929"/>
            </a:fillRef>
            <a:effectRef idx="0">
              <a:scrgbClr r="0" g="0" b="0"/>
            </a:effectRef>
            <a:fontRef idx="none"/>
          </p:style>
          <p:txBody>
            <a:bodyPr/>
            <a:lstStyle/>
            <a:p>
              <a:endParaRPr/>
            </a:p>
          </p:txBody>
        </p:sp>
        <p:pic>
          <p:nvPicPr>
            <p:cNvPr id="5" name="Picture 4"/>
            <p:cNvPicPr/>
            <p:nvPr/>
          </p:nvPicPr>
          <p:blipFill rotWithShape="1">
            <a:blip r:embed="rId2"/>
            <a:srcRect l="3435" t="5682" r="9680" b="18466"/>
            <a:stretch/>
          </p:blipFill>
          <p:spPr>
            <a:xfrm>
              <a:off x="5449285" y="2761938"/>
              <a:ext cx="1286516" cy="1334137"/>
            </a:xfrm>
            <a:prstGeom prst="rect">
              <a:avLst/>
            </a:prstGeom>
          </p:spPr>
        </p:pic>
      </p:grpSp>
      <p:sp>
        <p:nvSpPr>
          <p:cNvPr id="9" name="Content Placeholder 8"/>
          <p:cNvSpPr>
            <a:spLocks noGrp="1"/>
          </p:cNvSpPr>
          <p:nvPr>
            <p:ph idx="1"/>
          </p:nvPr>
        </p:nvSpPr>
        <p:spPr>
          <a:xfrm>
            <a:off x="794906" y="1539715"/>
            <a:ext cx="10515601" cy="4485590"/>
          </a:xfrm>
        </p:spPr>
        <p:txBody>
          <a:bodyPr>
            <a:normAutofit fontScale="92500" lnSpcReduction="10000"/>
          </a:bodyPr>
          <a:lstStyle/>
          <a:p>
            <a:pPr marL="0" indent="0">
              <a:buNone/>
            </a:pPr>
            <a:r>
              <a:rPr lang="en-IN" sz="2400" dirty="0"/>
              <a:t> </a:t>
            </a:r>
            <a:r>
              <a:rPr lang="en-IN" b="1" dirty="0">
                <a:latin typeface="Times New Roman" panose="02020603050405020304" pitchFamily="18" charset="0"/>
                <a:cs typeface="Times New Roman" panose="02020603050405020304" pitchFamily="18" charset="0"/>
              </a:rPr>
              <a:t>Frontend</a:t>
            </a:r>
          </a:p>
          <a:p>
            <a:r>
              <a:rPr lang="en-IN" dirty="0">
                <a:latin typeface="Times New Roman" panose="02020603050405020304" pitchFamily="18" charset="0"/>
                <a:cs typeface="Times New Roman" panose="02020603050405020304" pitchFamily="18" charset="0"/>
              </a:rPr>
              <a:t>React.js</a:t>
            </a:r>
          </a:p>
          <a:p>
            <a:r>
              <a:rPr lang="en-IN" dirty="0" err="1">
                <a:latin typeface="Times New Roman" panose="02020603050405020304" pitchFamily="18" charset="0"/>
                <a:cs typeface="Times New Roman" panose="02020603050405020304" pitchFamily="18" charset="0"/>
              </a:rPr>
              <a:t>TypeScript</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 HTML5</a:t>
            </a:r>
          </a:p>
          <a:p>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Vite</a:t>
            </a:r>
            <a:r>
              <a:rPr lang="en-IN" dirty="0">
                <a:latin typeface="Times New Roman" panose="02020603050405020304" pitchFamily="18" charset="0"/>
                <a:cs typeface="Times New Roman" panose="02020603050405020304" pitchFamily="18" charset="0"/>
              </a:rPr>
              <a:t> </a:t>
            </a:r>
          </a:p>
          <a:p>
            <a:pPr marL="0" indent="0">
              <a:buNone/>
            </a:pPr>
            <a:r>
              <a:rPr lang="en-IN" b="1" dirty="0">
                <a:latin typeface="Times New Roman" panose="02020603050405020304" pitchFamily="18" charset="0"/>
                <a:cs typeface="Times New Roman" panose="02020603050405020304" pitchFamily="18" charset="0"/>
              </a:rPr>
              <a:t>Backend</a:t>
            </a:r>
          </a:p>
          <a:p>
            <a:r>
              <a:rPr lang="en-IN" dirty="0">
                <a:latin typeface="Times New Roman" panose="02020603050405020304" pitchFamily="18" charset="0"/>
                <a:cs typeface="Times New Roman" panose="02020603050405020304" pitchFamily="18" charset="0"/>
              </a:rPr>
              <a:t>Node.js</a:t>
            </a:r>
          </a:p>
          <a:p>
            <a:r>
              <a:rPr lang="en-IN" dirty="0">
                <a:latin typeface="Times New Roman" panose="02020603050405020304" pitchFamily="18" charset="0"/>
                <a:cs typeface="Times New Roman" panose="02020603050405020304" pitchFamily="18" charset="0"/>
              </a:rPr>
              <a:t>Express.js </a:t>
            </a:r>
          </a:p>
          <a:p>
            <a:pPr marL="0" indent="0">
              <a:buNone/>
            </a:pPr>
            <a:r>
              <a:rPr lang="en-IN" b="1" dirty="0">
                <a:latin typeface="Times New Roman" panose="02020603050405020304" pitchFamily="18" charset="0"/>
                <a:cs typeface="Times New Roman" panose="02020603050405020304" pitchFamily="18" charset="0"/>
              </a:rPr>
              <a:t>Database</a:t>
            </a:r>
          </a:p>
          <a:p>
            <a:r>
              <a:rPr lang="en-IN" dirty="0" err="1">
                <a:latin typeface="Times New Roman" panose="02020603050405020304" pitchFamily="18" charset="0"/>
                <a:cs typeface="Times New Roman" panose="02020603050405020304" pitchFamily="18" charset="0"/>
              </a:rPr>
              <a:t>MongoDB</a:t>
            </a:r>
            <a:r>
              <a:rPr lang="en-IN" dirty="0">
                <a:latin typeface="Times New Roman" panose="02020603050405020304" pitchFamily="18" charset="0"/>
                <a:cs typeface="Times New Roman" panose="02020603050405020304" pitchFamily="18" charset="0"/>
              </a:rPr>
              <a:t> / Firebase (as per implementation)</a:t>
            </a:r>
          </a:p>
          <a:p>
            <a:endParaRPr lang="en-IN" sz="2600" dirty="0"/>
          </a:p>
          <a:p>
            <a:pPr marL="0" indent="0" algn="just">
              <a:buNone/>
            </a:pPr>
            <a:endParaRPr sz="2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9089E3F-4A07-D9CD-3056-136B1EFD6E64}"/>
              </a:ext>
            </a:extLst>
          </p:cNvPr>
          <p:cNvSpPr txBox="1"/>
          <p:nvPr/>
        </p:nvSpPr>
        <p:spPr>
          <a:xfrm>
            <a:off x="1358900" y="581890"/>
            <a:ext cx="10393223" cy="769441"/>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Technology Stack</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87428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215" y="393506"/>
            <a:ext cx="10515600" cy="1325556"/>
          </a:xfrm>
        </p:spPr>
        <p:txBody>
          <a:bodyPr/>
          <a:lstStyle/>
          <a:p>
            <a:br>
              <a:rPr dirty="0">
                <a:cs typeface="Times New Roman"/>
              </a:rPr>
            </a:br>
            <a:endParaRPr dirty="0">
              <a:cs typeface="Times New Roman"/>
            </a:endParaRPr>
          </a:p>
        </p:txBody>
      </p:sp>
      <p:sp>
        <p:nvSpPr>
          <p:cNvPr id="7" name="Parallelogram 6"/>
          <p:cNvSpPr/>
          <p:nvPr/>
        </p:nvSpPr>
        <p:spPr>
          <a:xfrm>
            <a:off x="353294" y="6549088"/>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sp>
        <p:nvSpPr>
          <p:cNvPr id="8" name="Parallelogram 6"/>
          <p:cNvSpPr/>
          <p:nvPr/>
        </p:nvSpPr>
        <p:spPr>
          <a:xfrm flipV="1">
            <a:off x="588480" y="56703"/>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grpSp>
        <p:nvGrpSpPr>
          <p:cNvPr id="6" name="Group 5"/>
          <p:cNvGrpSpPr/>
          <p:nvPr/>
        </p:nvGrpSpPr>
        <p:grpSpPr>
          <a:xfrm>
            <a:off x="0" y="25547"/>
            <a:ext cx="1180114" cy="1304655"/>
            <a:chOff x="5449285" y="2761938"/>
            <a:chExt cx="1289977" cy="1334137"/>
          </a:xfrm>
        </p:grpSpPr>
        <p:sp>
          <p:nvSpPr>
            <p:cNvPr id="4" name="Shape 454"/>
            <p:cNvSpPr/>
            <p:nvPr/>
          </p:nvSpPr>
          <p:spPr>
            <a:xfrm>
              <a:off x="5452746" y="2761938"/>
              <a:ext cx="1286516" cy="1334137"/>
            </a:xfrm>
            <a:custGeom>
              <a:avLst/>
              <a:gdLst/>
              <a:ahLst/>
              <a:cxnLst/>
              <a:rect l="0" t="0" r="0" b="0"/>
              <a:pathLst>
                <a:path w="1286905" h="1334619">
                  <a:moveTo>
                    <a:pt x="0" y="0"/>
                  </a:moveTo>
                  <a:lnTo>
                    <a:pt x="1286905" y="0"/>
                  </a:lnTo>
                  <a:lnTo>
                    <a:pt x="1286905" y="1334619"/>
                  </a:lnTo>
                  <a:lnTo>
                    <a:pt x="0" y="1334619"/>
                  </a:lnTo>
                  <a:lnTo>
                    <a:pt x="0" y="0"/>
                  </a:lnTo>
                </a:path>
              </a:pathLst>
            </a:custGeom>
            <a:ln w="0" cap="flat">
              <a:miter lim="127000"/>
            </a:ln>
          </p:spPr>
          <p:style>
            <a:lnRef idx="0">
              <a:srgbClr val="000000">
                <a:alpha val="0"/>
              </a:srgbClr>
            </a:lnRef>
            <a:fillRef idx="1">
              <a:srgbClr val="292929"/>
            </a:fillRef>
            <a:effectRef idx="0">
              <a:scrgbClr r="0" g="0" b="0"/>
            </a:effectRef>
            <a:fontRef idx="none"/>
          </p:style>
          <p:txBody>
            <a:bodyPr/>
            <a:lstStyle/>
            <a:p>
              <a:endParaRPr/>
            </a:p>
          </p:txBody>
        </p:sp>
        <p:pic>
          <p:nvPicPr>
            <p:cNvPr id="5" name="Picture 4"/>
            <p:cNvPicPr/>
            <p:nvPr/>
          </p:nvPicPr>
          <p:blipFill rotWithShape="1">
            <a:blip r:embed="rId2"/>
            <a:srcRect l="3435" t="5682" r="9680" b="18466"/>
            <a:stretch/>
          </p:blipFill>
          <p:spPr>
            <a:xfrm>
              <a:off x="5449285" y="2761938"/>
              <a:ext cx="1286516" cy="1334137"/>
            </a:xfrm>
            <a:prstGeom prst="rect">
              <a:avLst/>
            </a:prstGeom>
          </p:spPr>
        </p:pic>
      </p:grpSp>
      <p:sp>
        <p:nvSpPr>
          <p:cNvPr id="9" name="Content Placeholder 8"/>
          <p:cNvSpPr>
            <a:spLocks noGrp="1"/>
          </p:cNvSpPr>
          <p:nvPr>
            <p:ph idx="1"/>
          </p:nvPr>
        </p:nvSpPr>
        <p:spPr>
          <a:xfrm>
            <a:off x="794906" y="1674638"/>
            <a:ext cx="10515601" cy="4485590"/>
          </a:xfrm>
        </p:spPr>
        <p:txBody>
          <a:bodyPr>
            <a:normAutofit/>
          </a:bodyPr>
          <a:lstStyle/>
          <a:p>
            <a:pPr marL="0" indent="0">
              <a:buNone/>
            </a:pPr>
            <a:r>
              <a:rPr lang="en-IN" sz="2600" b="1" dirty="0">
                <a:latin typeface="Times New Roman" panose="02020603050405020304" pitchFamily="18" charset="0"/>
                <a:cs typeface="Times New Roman" panose="02020603050405020304" pitchFamily="18" charset="0"/>
              </a:rPr>
              <a:t>Install Dependencies</a:t>
            </a:r>
          </a:p>
          <a:p>
            <a:r>
              <a:rPr lang="en-IN" sz="2600" dirty="0" err="1">
                <a:latin typeface="Times New Roman" panose="02020603050405020304" pitchFamily="18" charset="0"/>
                <a:cs typeface="Times New Roman" panose="02020603050405020304" pitchFamily="18" charset="0"/>
              </a:rPr>
              <a:t>npm</a:t>
            </a:r>
            <a:r>
              <a:rPr lang="en-IN" sz="2600" dirty="0">
                <a:latin typeface="Times New Roman" panose="02020603050405020304" pitchFamily="18" charset="0"/>
                <a:cs typeface="Times New Roman" panose="02020603050405020304" pitchFamily="18" charset="0"/>
              </a:rPr>
              <a:t> install</a:t>
            </a:r>
          </a:p>
          <a:p>
            <a:pPr marL="0" indent="0">
              <a:buNone/>
            </a:pPr>
            <a:endParaRPr lang="en-IN" sz="2600" dirty="0">
              <a:latin typeface="Times New Roman" panose="02020603050405020304" pitchFamily="18" charset="0"/>
              <a:cs typeface="Times New Roman" panose="02020603050405020304" pitchFamily="18" charset="0"/>
            </a:endParaRPr>
          </a:p>
          <a:p>
            <a:pPr marL="0" indent="0">
              <a:buNone/>
            </a:pPr>
            <a:r>
              <a:rPr lang="en-IN" sz="2600" b="1" dirty="0">
                <a:latin typeface="Times New Roman" panose="02020603050405020304" pitchFamily="18" charset="0"/>
                <a:cs typeface="Times New Roman" panose="02020603050405020304" pitchFamily="18" charset="0"/>
              </a:rPr>
              <a:t>Run the Project</a:t>
            </a:r>
          </a:p>
          <a:p>
            <a:r>
              <a:rPr lang="en-IN" sz="2600" dirty="0" err="1">
                <a:latin typeface="Times New Roman" panose="02020603050405020304" pitchFamily="18" charset="0"/>
                <a:cs typeface="Times New Roman" panose="02020603050405020304" pitchFamily="18" charset="0"/>
              </a:rPr>
              <a:t>npm</a:t>
            </a:r>
            <a:r>
              <a:rPr lang="en-IN" sz="2600" dirty="0">
                <a:latin typeface="Times New Roman" panose="02020603050405020304" pitchFamily="18" charset="0"/>
                <a:cs typeface="Times New Roman" panose="02020603050405020304" pitchFamily="18" charset="0"/>
              </a:rPr>
              <a:t> run </a:t>
            </a:r>
            <a:r>
              <a:rPr lang="en-IN" sz="2600" dirty="0" err="1">
                <a:latin typeface="Times New Roman" panose="02020603050405020304" pitchFamily="18" charset="0"/>
                <a:cs typeface="Times New Roman" panose="02020603050405020304" pitchFamily="18" charset="0"/>
              </a:rPr>
              <a:t>dev</a:t>
            </a:r>
            <a:endParaRPr lang="en-IN" sz="2600" dirty="0">
              <a:latin typeface="Times New Roman" panose="02020603050405020304" pitchFamily="18" charset="0"/>
              <a:cs typeface="Times New Roman" panose="02020603050405020304" pitchFamily="18" charset="0"/>
            </a:endParaRPr>
          </a:p>
          <a:p>
            <a:endParaRPr lang="en-IN" sz="2600" dirty="0">
              <a:latin typeface="Times New Roman" panose="02020603050405020304" pitchFamily="18" charset="0"/>
              <a:cs typeface="Times New Roman" panose="02020603050405020304" pitchFamily="18" charset="0"/>
            </a:endParaRPr>
          </a:p>
          <a:p>
            <a:pPr marL="0" indent="0">
              <a:buNone/>
            </a:pPr>
            <a:r>
              <a:rPr lang="en-IN" sz="2600" b="1" dirty="0">
                <a:latin typeface="Times New Roman" panose="02020603050405020304" pitchFamily="18" charset="0"/>
                <a:cs typeface="Times New Roman" panose="02020603050405020304" pitchFamily="18" charset="0"/>
              </a:rPr>
              <a:t>Open in browser:</a:t>
            </a:r>
          </a:p>
          <a:p>
            <a:r>
              <a:rPr lang="en-IN" sz="2600" dirty="0">
                <a:latin typeface="Times New Roman" panose="02020603050405020304" pitchFamily="18" charset="0"/>
                <a:cs typeface="Times New Roman" panose="02020603050405020304" pitchFamily="18" charset="0"/>
              </a:rPr>
              <a:t>http://localhost:5173</a:t>
            </a:r>
          </a:p>
          <a:p>
            <a:endParaRPr lang="en-IN" sz="2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9089E3F-4A07-D9CD-3056-136B1EFD6E64}"/>
              </a:ext>
            </a:extLst>
          </p:cNvPr>
          <p:cNvSpPr txBox="1"/>
          <p:nvPr/>
        </p:nvSpPr>
        <p:spPr>
          <a:xfrm>
            <a:off x="1358900" y="581890"/>
            <a:ext cx="10393223" cy="769441"/>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Installation &amp; Setup</a:t>
            </a:r>
          </a:p>
        </p:txBody>
      </p:sp>
    </p:spTree>
    <p:extLst>
      <p:ext uri="{BB962C8B-B14F-4D97-AF65-F5344CB8AC3E}">
        <p14:creationId xmlns:p14="http://schemas.microsoft.com/office/powerpoint/2010/main" val="3587036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215" y="393506"/>
            <a:ext cx="10515600" cy="1325556"/>
          </a:xfrm>
        </p:spPr>
        <p:txBody>
          <a:bodyPr/>
          <a:lstStyle/>
          <a:p>
            <a:br>
              <a:rPr dirty="0">
                <a:cs typeface="Times New Roman"/>
              </a:rPr>
            </a:br>
            <a:endParaRPr dirty="0">
              <a:cs typeface="Times New Roman"/>
            </a:endParaRPr>
          </a:p>
        </p:txBody>
      </p:sp>
      <p:sp>
        <p:nvSpPr>
          <p:cNvPr id="7" name="Parallelogram 6"/>
          <p:cNvSpPr/>
          <p:nvPr/>
        </p:nvSpPr>
        <p:spPr>
          <a:xfrm>
            <a:off x="353294" y="6549088"/>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sp>
        <p:nvSpPr>
          <p:cNvPr id="8" name="Parallelogram 6"/>
          <p:cNvSpPr/>
          <p:nvPr/>
        </p:nvSpPr>
        <p:spPr>
          <a:xfrm flipV="1">
            <a:off x="588480" y="56703"/>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grpSp>
        <p:nvGrpSpPr>
          <p:cNvPr id="6" name="Group 5"/>
          <p:cNvGrpSpPr/>
          <p:nvPr/>
        </p:nvGrpSpPr>
        <p:grpSpPr>
          <a:xfrm>
            <a:off x="0" y="25547"/>
            <a:ext cx="1180114" cy="1304655"/>
            <a:chOff x="5449285" y="2761938"/>
            <a:chExt cx="1289977" cy="1334137"/>
          </a:xfrm>
        </p:grpSpPr>
        <p:sp>
          <p:nvSpPr>
            <p:cNvPr id="4" name="Shape 454"/>
            <p:cNvSpPr/>
            <p:nvPr/>
          </p:nvSpPr>
          <p:spPr>
            <a:xfrm>
              <a:off x="5452746" y="2761938"/>
              <a:ext cx="1286516" cy="1334137"/>
            </a:xfrm>
            <a:custGeom>
              <a:avLst/>
              <a:gdLst/>
              <a:ahLst/>
              <a:cxnLst/>
              <a:rect l="0" t="0" r="0" b="0"/>
              <a:pathLst>
                <a:path w="1286905" h="1334619">
                  <a:moveTo>
                    <a:pt x="0" y="0"/>
                  </a:moveTo>
                  <a:lnTo>
                    <a:pt x="1286905" y="0"/>
                  </a:lnTo>
                  <a:lnTo>
                    <a:pt x="1286905" y="1334619"/>
                  </a:lnTo>
                  <a:lnTo>
                    <a:pt x="0" y="1334619"/>
                  </a:lnTo>
                  <a:lnTo>
                    <a:pt x="0" y="0"/>
                  </a:lnTo>
                </a:path>
              </a:pathLst>
            </a:custGeom>
            <a:ln w="0" cap="flat">
              <a:miter lim="127000"/>
            </a:ln>
          </p:spPr>
          <p:style>
            <a:lnRef idx="0">
              <a:srgbClr val="000000">
                <a:alpha val="0"/>
              </a:srgbClr>
            </a:lnRef>
            <a:fillRef idx="1">
              <a:srgbClr val="292929"/>
            </a:fillRef>
            <a:effectRef idx="0">
              <a:scrgbClr r="0" g="0" b="0"/>
            </a:effectRef>
            <a:fontRef idx="none"/>
          </p:style>
          <p:txBody>
            <a:bodyPr/>
            <a:lstStyle/>
            <a:p>
              <a:endParaRPr/>
            </a:p>
          </p:txBody>
        </p:sp>
        <p:pic>
          <p:nvPicPr>
            <p:cNvPr id="5" name="Picture 4"/>
            <p:cNvPicPr/>
            <p:nvPr/>
          </p:nvPicPr>
          <p:blipFill rotWithShape="1">
            <a:blip r:embed="rId2"/>
            <a:srcRect l="3435" t="5682" r="9680" b="18466"/>
            <a:stretch/>
          </p:blipFill>
          <p:spPr>
            <a:xfrm>
              <a:off x="5449285" y="2761938"/>
              <a:ext cx="1286516" cy="1334137"/>
            </a:xfrm>
            <a:prstGeom prst="rect">
              <a:avLst/>
            </a:prstGeom>
          </p:spPr>
        </p:pic>
      </p:grpSp>
      <p:sp>
        <p:nvSpPr>
          <p:cNvPr id="9" name="Content Placeholder 8"/>
          <p:cNvSpPr>
            <a:spLocks noGrp="1"/>
          </p:cNvSpPr>
          <p:nvPr>
            <p:ph idx="1"/>
          </p:nvPr>
        </p:nvSpPr>
        <p:spPr>
          <a:xfrm>
            <a:off x="588480" y="1674638"/>
            <a:ext cx="10722028" cy="4485590"/>
          </a:xfrm>
        </p:spPr>
        <p:txBody>
          <a:bodyPr>
            <a:normAutofit/>
          </a:bodyPr>
          <a:lstStyle/>
          <a:p>
            <a:r>
              <a:rPr lang="en-IN" sz="2600" dirty="0">
                <a:latin typeface="Times New Roman" panose="02020603050405020304" pitchFamily="18" charset="0"/>
                <a:cs typeface="Times New Roman" panose="02020603050405020304" pitchFamily="18" charset="0"/>
              </a:rPr>
              <a:t>User/Farmer logs in</a:t>
            </a:r>
          </a:p>
          <a:p>
            <a:pPr marL="0" indent="0">
              <a:buNone/>
            </a:pPr>
            <a:r>
              <a:rPr lang="en-IN" sz="2600" dirty="0">
                <a:latin typeface="Times New Roman" panose="02020603050405020304" pitchFamily="18" charset="0"/>
                <a:cs typeface="Times New Roman" panose="02020603050405020304" pitchFamily="18" charset="0"/>
              </a:rPr>
              <a:t> </a:t>
            </a:r>
          </a:p>
          <a:p>
            <a:r>
              <a:rPr lang="en-IN" sz="2600" dirty="0">
                <a:latin typeface="Times New Roman" panose="02020603050405020304" pitchFamily="18" charset="0"/>
                <a:cs typeface="Times New Roman" panose="02020603050405020304" pitchFamily="18" charset="0"/>
              </a:rPr>
              <a:t>Farmer adds products</a:t>
            </a:r>
          </a:p>
          <a:p>
            <a:pPr marL="0" indent="0">
              <a:buNone/>
            </a:pPr>
            <a:r>
              <a:rPr lang="en-IN" sz="2600" dirty="0">
                <a:latin typeface="Times New Roman" panose="02020603050405020304" pitchFamily="18" charset="0"/>
                <a:cs typeface="Times New Roman" panose="02020603050405020304" pitchFamily="18" charset="0"/>
              </a:rPr>
              <a:t> </a:t>
            </a:r>
          </a:p>
          <a:p>
            <a:r>
              <a:rPr lang="en-IN" sz="2600" dirty="0">
                <a:latin typeface="Times New Roman" panose="02020603050405020304" pitchFamily="18" charset="0"/>
                <a:cs typeface="Times New Roman" panose="02020603050405020304" pitchFamily="18" charset="0"/>
              </a:rPr>
              <a:t>Buyer browses products</a:t>
            </a:r>
          </a:p>
          <a:p>
            <a:pPr marL="0" indent="0">
              <a:buNone/>
            </a:pPr>
            <a:r>
              <a:rPr lang="en-IN" sz="2600" dirty="0">
                <a:latin typeface="Times New Roman" panose="02020603050405020304" pitchFamily="18" charset="0"/>
                <a:cs typeface="Times New Roman" panose="02020603050405020304" pitchFamily="18" charset="0"/>
              </a:rPr>
              <a:t> </a:t>
            </a:r>
          </a:p>
          <a:p>
            <a:r>
              <a:rPr lang="en-IN" sz="2600" dirty="0">
                <a:latin typeface="Times New Roman" panose="02020603050405020304" pitchFamily="18" charset="0"/>
                <a:cs typeface="Times New Roman" panose="02020603050405020304" pitchFamily="18" charset="0"/>
              </a:rPr>
              <a:t>Buyer sends purchase request</a:t>
            </a:r>
          </a:p>
          <a:p>
            <a:pPr marL="0" indent="0">
              <a:buNone/>
            </a:pPr>
            <a:r>
              <a:rPr lang="en-IN" sz="2600" dirty="0">
                <a:latin typeface="Times New Roman" panose="02020603050405020304" pitchFamily="18" charset="0"/>
                <a:cs typeface="Times New Roman" panose="02020603050405020304" pitchFamily="18" charset="0"/>
              </a:rPr>
              <a:t> </a:t>
            </a:r>
          </a:p>
          <a:p>
            <a:r>
              <a:rPr lang="en-IN" sz="2600" dirty="0">
                <a:latin typeface="Times New Roman" panose="02020603050405020304" pitchFamily="18" charset="0"/>
                <a:cs typeface="Times New Roman" panose="02020603050405020304" pitchFamily="18" charset="0"/>
              </a:rPr>
              <a:t>Farmer confirms request</a:t>
            </a:r>
          </a:p>
        </p:txBody>
      </p:sp>
      <p:sp>
        <p:nvSpPr>
          <p:cNvPr id="3" name="TextBox 2">
            <a:extLst>
              <a:ext uri="{FF2B5EF4-FFF2-40B4-BE49-F238E27FC236}">
                <a16:creationId xmlns:a16="http://schemas.microsoft.com/office/drawing/2014/main" id="{69089E3F-4A07-D9CD-3056-136B1EFD6E64}"/>
              </a:ext>
            </a:extLst>
          </p:cNvPr>
          <p:cNvSpPr txBox="1"/>
          <p:nvPr/>
        </p:nvSpPr>
        <p:spPr>
          <a:xfrm>
            <a:off x="1358900" y="581890"/>
            <a:ext cx="10393223" cy="769441"/>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Application Workflow</a:t>
            </a:r>
          </a:p>
        </p:txBody>
      </p:sp>
    </p:spTree>
    <p:extLst>
      <p:ext uri="{BB962C8B-B14F-4D97-AF65-F5344CB8AC3E}">
        <p14:creationId xmlns:p14="http://schemas.microsoft.com/office/powerpoint/2010/main" val="382000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215" y="393506"/>
            <a:ext cx="10515600" cy="1325556"/>
          </a:xfrm>
        </p:spPr>
        <p:txBody>
          <a:bodyPr/>
          <a:lstStyle/>
          <a:p>
            <a:br>
              <a:rPr dirty="0">
                <a:cs typeface="Times New Roman"/>
              </a:rPr>
            </a:br>
            <a:endParaRPr dirty="0">
              <a:cs typeface="Times New Roman"/>
            </a:endParaRPr>
          </a:p>
        </p:txBody>
      </p:sp>
      <p:sp>
        <p:nvSpPr>
          <p:cNvPr id="7" name="Parallelogram 6"/>
          <p:cNvSpPr/>
          <p:nvPr/>
        </p:nvSpPr>
        <p:spPr>
          <a:xfrm>
            <a:off x="353294" y="6549088"/>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sp>
        <p:nvSpPr>
          <p:cNvPr id="8" name="Parallelogram 6"/>
          <p:cNvSpPr/>
          <p:nvPr/>
        </p:nvSpPr>
        <p:spPr>
          <a:xfrm flipV="1">
            <a:off x="588480" y="56703"/>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grpSp>
        <p:nvGrpSpPr>
          <p:cNvPr id="6" name="Group 5"/>
          <p:cNvGrpSpPr/>
          <p:nvPr/>
        </p:nvGrpSpPr>
        <p:grpSpPr>
          <a:xfrm>
            <a:off x="0" y="25547"/>
            <a:ext cx="1180114" cy="1304655"/>
            <a:chOff x="5449285" y="2761938"/>
            <a:chExt cx="1289977" cy="1334137"/>
          </a:xfrm>
        </p:grpSpPr>
        <p:sp>
          <p:nvSpPr>
            <p:cNvPr id="4" name="Shape 454"/>
            <p:cNvSpPr/>
            <p:nvPr/>
          </p:nvSpPr>
          <p:spPr>
            <a:xfrm>
              <a:off x="5452746" y="2761938"/>
              <a:ext cx="1286516" cy="1334137"/>
            </a:xfrm>
            <a:custGeom>
              <a:avLst/>
              <a:gdLst/>
              <a:ahLst/>
              <a:cxnLst/>
              <a:rect l="0" t="0" r="0" b="0"/>
              <a:pathLst>
                <a:path w="1286905" h="1334619">
                  <a:moveTo>
                    <a:pt x="0" y="0"/>
                  </a:moveTo>
                  <a:lnTo>
                    <a:pt x="1286905" y="0"/>
                  </a:lnTo>
                  <a:lnTo>
                    <a:pt x="1286905" y="1334619"/>
                  </a:lnTo>
                  <a:lnTo>
                    <a:pt x="0" y="1334619"/>
                  </a:lnTo>
                  <a:lnTo>
                    <a:pt x="0" y="0"/>
                  </a:lnTo>
                </a:path>
              </a:pathLst>
            </a:custGeom>
            <a:ln w="0" cap="flat">
              <a:miter lim="127000"/>
            </a:ln>
          </p:spPr>
          <p:style>
            <a:lnRef idx="0">
              <a:srgbClr val="000000">
                <a:alpha val="0"/>
              </a:srgbClr>
            </a:lnRef>
            <a:fillRef idx="1">
              <a:srgbClr val="292929"/>
            </a:fillRef>
            <a:effectRef idx="0">
              <a:scrgbClr r="0" g="0" b="0"/>
            </a:effectRef>
            <a:fontRef idx="none"/>
          </p:style>
          <p:txBody>
            <a:bodyPr/>
            <a:lstStyle/>
            <a:p>
              <a:endParaRPr/>
            </a:p>
          </p:txBody>
        </p:sp>
        <p:pic>
          <p:nvPicPr>
            <p:cNvPr id="5" name="Picture 4"/>
            <p:cNvPicPr/>
            <p:nvPr/>
          </p:nvPicPr>
          <p:blipFill rotWithShape="1">
            <a:blip r:embed="rId2"/>
            <a:srcRect l="3435" t="5682" r="9680" b="18466"/>
            <a:stretch/>
          </p:blipFill>
          <p:spPr>
            <a:xfrm>
              <a:off x="5449285" y="2761938"/>
              <a:ext cx="1286516" cy="1334137"/>
            </a:xfrm>
            <a:prstGeom prst="rect">
              <a:avLst/>
            </a:prstGeom>
          </p:spPr>
        </p:pic>
      </p:grpSp>
      <p:sp>
        <p:nvSpPr>
          <p:cNvPr id="9" name="Content Placeholder 8"/>
          <p:cNvSpPr>
            <a:spLocks noGrp="1"/>
          </p:cNvSpPr>
          <p:nvPr>
            <p:ph idx="1"/>
          </p:nvPr>
        </p:nvSpPr>
        <p:spPr>
          <a:xfrm>
            <a:off x="503852" y="1674638"/>
            <a:ext cx="10806655" cy="4485590"/>
          </a:xfrm>
        </p:spPr>
        <p:txBody>
          <a:bodyPr>
            <a:normAutofit/>
          </a:bodyPr>
          <a:lstStyle/>
          <a:p>
            <a:r>
              <a:rPr lang="en-IN" sz="2600" dirty="0">
                <a:latin typeface="Times New Roman" panose="02020603050405020304" pitchFamily="18" charset="0"/>
                <a:cs typeface="Times New Roman" panose="02020603050405020304" pitchFamily="18" charset="0"/>
              </a:rPr>
              <a:t>Online payment integration</a:t>
            </a:r>
          </a:p>
          <a:p>
            <a:r>
              <a:rPr lang="en-IN" sz="2600" dirty="0">
                <a:latin typeface="Times New Roman" panose="02020603050405020304" pitchFamily="18" charset="0"/>
                <a:cs typeface="Times New Roman" panose="02020603050405020304" pitchFamily="18" charset="0"/>
              </a:rPr>
              <a:t>Real-time chat feature</a:t>
            </a:r>
          </a:p>
          <a:p>
            <a:r>
              <a:rPr lang="en-IN" sz="2600" dirty="0">
                <a:latin typeface="Times New Roman" panose="02020603050405020304" pitchFamily="18" charset="0"/>
                <a:cs typeface="Times New Roman" panose="02020603050405020304" pitchFamily="18" charset="0"/>
              </a:rPr>
              <a:t>Delivery tracking system</a:t>
            </a:r>
          </a:p>
          <a:p>
            <a:r>
              <a:rPr lang="en-IN" sz="2600" dirty="0">
                <a:latin typeface="Times New Roman" panose="02020603050405020304" pitchFamily="18" charset="0"/>
                <a:cs typeface="Times New Roman" panose="02020603050405020304" pitchFamily="18" charset="0"/>
              </a:rPr>
              <a:t>Product rating and review system</a:t>
            </a:r>
          </a:p>
          <a:p>
            <a:r>
              <a:rPr lang="en-IN" sz="2600" dirty="0">
                <a:latin typeface="Times New Roman" panose="02020603050405020304" pitchFamily="18" charset="0"/>
                <a:cs typeface="Times New Roman" panose="02020603050405020304" pitchFamily="18" charset="0"/>
              </a:rPr>
              <a:t>Mobile application version</a:t>
            </a:r>
          </a:p>
        </p:txBody>
      </p:sp>
      <p:sp>
        <p:nvSpPr>
          <p:cNvPr id="3" name="TextBox 2">
            <a:extLst>
              <a:ext uri="{FF2B5EF4-FFF2-40B4-BE49-F238E27FC236}">
                <a16:creationId xmlns:a16="http://schemas.microsoft.com/office/drawing/2014/main" id="{69089E3F-4A07-D9CD-3056-136B1EFD6E64}"/>
              </a:ext>
            </a:extLst>
          </p:cNvPr>
          <p:cNvSpPr txBox="1"/>
          <p:nvPr/>
        </p:nvSpPr>
        <p:spPr>
          <a:xfrm>
            <a:off x="1358900" y="581890"/>
            <a:ext cx="10393223" cy="769441"/>
          </a:xfrm>
          <a:prstGeom prst="rect">
            <a:avLst/>
          </a:prstGeom>
          <a:noFill/>
        </p:spPr>
        <p:txBody>
          <a:bodyPr wrap="square" rtlCol="0">
            <a:spAutoFit/>
          </a:bodyPr>
          <a:lstStyle/>
          <a:p>
            <a:r>
              <a:rPr lang="en-IN" sz="4400" dirty="0">
                <a:latin typeface="Times New Roman" panose="02020603050405020304" pitchFamily="18" charset="0"/>
                <a:cs typeface="Times New Roman" panose="02020603050405020304" pitchFamily="18" charset="0"/>
              </a:rPr>
              <a:t>Future Scope</a:t>
            </a:r>
          </a:p>
        </p:txBody>
      </p:sp>
    </p:spTree>
    <p:extLst>
      <p:ext uri="{BB962C8B-B14F-4D97-AF65-F5344CB8AC3E}">
        <p14:creationId xmlns:p14="http://schemas.microsoft.com/office/powerpoint/2010/main" val="4901668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215" y="393506"/>
            <a:ext cx="10515600" cy="1325556"/>
          </a:xfrm>
        </p:spPr>
        <p:txBody>
          <a:bodyPr/>
          <a:lstStyle/>
          <a:p>
            <a:br>
              <a:rPr dirty="0">
                <a:cs typeface="Times New Roman"/>
              </a:rPr>
            </a:br>
            <a:endParaRPr dirty="0">
              <a:cs typeface="Times New Roman"/>
            </a:endParaRPr>
          </a:p>
        </p:txBody>
      </p:sp>
      <p:sp>
        <p:nvSpPr>
          <p:cNvPr id="7" name="Parallelogram 6"/>
          <p:cNvSpPr/>
          <p:nvPr/>
        </p:nvSpPr>
        <p:spPr>
          <a:xfrm>
            <a:off x="353294" y="6549088"/>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sp>
        <p:nvSpPr>
          <p:cNvPr id="8" name="Parallelogram 6"/>
          <p:cNvSpPr/>
          <p:nvPr/>
        </p:nvSpPr>
        <p:spPr>
          <a:xfrm flipV="1">
            <a:off x="588480" y="56703"/>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grpSp>
        <p:nvGrpSpPr>
          <p:cNvPr id="6" name="Group 5"/>
          <p:cNvGrpSpPr/>
          <p:nvPr/>
        </p:nvGrpSpPr>
        <p:grpSpPr>
          <a:xfrm>
            <a:off x="0" y="25547"/>
            <a:ext cx="1180114" cy="1304655"/>
            <a:chOff x="5449285" y="2761938"/>
            <a:chExt cx="1289977" cy="1334137"/>
          </a:xfrm>
        </p:grpSpPr>
        <p:sp>
          <p:nvSpPr>
            <p:cNvPr id="4" name="Shape 454"/>
            <p:cNvSpPr/>
            <p:nvPr/>
          </p:nvSpPr>
          <p:spPr>
            <a:xfrm>
              <a:off x="5452746" y="2761938"/>
              <a:ext cx="1286516" cy="1334137"/>
            </a:xfrm>
            <a:custGeom>
              <a:avLst/>
              <a:gdLst/>
              <a:ahLst/>
              <a:cxnLst/>
              <a:rect l="0" t="0" r="0" b="0"/>
              <a:pathLst>
                <a:path w="1286905" h="1334619">
                  <a:moveTo>
                    <a:pt x="0" y="0"/>
                  </a:moveTo>
                  <a:lnTo>
                    <a:pt x="1286905" y="0"/>
                  </a:lnTo>
                  <a:lnTo>
                    <a:pt x="1286905" y="1334619"/>
                  </a:lnTo>
                  <a:lnTo>
                    <a:pt x="0" y="1334619"/>
                  </a:lnTo>
                  <a:lnTo>
                    <a:pt x="0" y="0"/>
                  </a:lnTo>
                </a:path>
              </a:pathLst>
            </a:custGeom>
            <a:ln w="0" cap="flat">
              <a:miter lim="127000"/>
            </a:ln>
          </p:spPr>
          <p:style>
            <a:lnRef idx="0">
              <a:srgbClr val="000000">
                <a:alpha val="0"/>
              </a:srgbClr>
            </a:lnRef>
            <a:fillRef idx="1">
              <a:srgbClr val="292929"/>
            </a:fillRef>
            <a:effectRef idx="0">
              <a:scrgbClr r="0" g="0" b="0"/>
            </a:effectRef>
            <a:fontRef idx="none"/>
          </p:style>
          <p:txBody>
            <a:bodyPr/>
            <a:lstStyle/>
            <a:p>
              <a:endParaRPr/>
            </a:p>
          </p:txBody>
        </p:sp>
        <p:pic>
          <p:nvPicPr>
            <p:cNvPr id="5" name="Picture 4"/>
            <p:cNvPicPr/>
            <p:nvPr/>
          </p:nvPicPr>
          <p:blipFill rotWithShape="1">
            <a:blip r:embed="rId2"/>
            <a:srcRect l="3435" t="5682" r="9680" b="18466"/>
            <a:stretch/>
          </p:blipFill>
          <p:spPr>
            <a:xfrm>
              <a:off x="5449285" y="2761938"/>
              <a:ext cx="1286516" cy="1334137"/>
            </a:xfrm>
            <a:prstGeom prst="rect">
              <a:avLst/>
            </a:prstGeom>
          </p:spPr>
        </p:pic>
      </p:grpSp>
      <p:sp>
        <p:nvSpPr>
          <p:cNvPr id="9" name="Content Placeholder 8"/>
          <p:cNvSpPr>
            <a:spLocks noGrp="1"/>
          </p:cNvSpPr>
          <p:nvPr>
            <p:ph idx="1"/>
          </p:nvPr>
        </p:nvSpPr>
        <p:spPr>
          <a:xfrm>
            <a:off x="755779" y="1719062"/>
            <a:ext cx="10515599" cy="4351338"/>
          </a:xfrm>
        </p:spPr>
        <p:txBody>
          <a:bodyPr>
            <a:normAutofit/>
          </a:bodyPr>
          <a:lstStyle/>
          <a:p>
            <a:pPr marL="0" indent="0" algn="just">
              <a:buNone/>
            </a:pPr>
            <a:r>
              <a:rPr lang="en-IN" sz="2600" dirty="0" err="1">
                <a:latin typeface="Times New Roman" panose="02020603050405020304" pitchFamily="18" charset="0"/>
                <a:cs typeface="Times New Roman" panose="02020603050405020304" pitchFamily="18" charset="0"/>
              </a:rPr>
              <a:t>CropCart</a:t>
            </a:r>
            <a:r>
              <a:rPr lang="en-IN" sz="2600" dirty="0">
                <a:latin typeface="Times New Roman" panose="02020603050405020304" pitchFamily="18" charset="0"/>
                <a:cs typeface="Times New Roman" panose="02020603050405020304" pitchFamily="18" charset="0"/>
              </a:rPr>
              <a:t> provides a simple and effective solution for connecting farmers directly with </a:t>
            </a:r>
            <a:r>
              <a:rPr lang="en-IN" sz="2600" dirty="0" err="1">
                <a:latin typeface="Times New Roman" panose="02020603050405020304" pitchFamily="18" charset="0"/>
                <a:cs typeface="Times New Roman" panose="02020603050405020304" pitchFamily="18" charset="0"/>
              </a:rPr>
              <a:t>buyers.The</a:t>
            </a:r>
            <a:r>
              <a:rPr lang="en-IN" sz="2600" dirty="0">
                <a:latin typeface="Times New Roman" panose="02020603050405020304" pitchFamily="18" charset="0"/>
                <a:cs typeface="Times New Roman" panose="02020603050405020304" pitchFamily="18" charset="0"/>
              </a:rPr>
              <a:t> project helps reduce middlemen involvement and promotes fair trade while offering a smooth and user-friendly digital experience.</a:t>
            </a:r>
          </a:p>
          <a:p>
            <a:pPr marL="0" indent="0" algn="just">
              <a:buNone/>
            </a:pPr>
            <a:endParaRPr sz="26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05493CB-3D95-0006-0FEB-B727A02C3707}"/>
              </a:ext>
            </a:extLst>
          </p:cNvPr>
          <p:cNvSpPr txBox="1"/>
          <p:nvPr/>
        </p:nvSpPr>
        <p:spPr>
          <a:xfrm>
            <a:off x="1500049" y="431439"/>
            <a:ext cx="9188736" cy="769441"/>
          </a:xfrm>
          <a:prstGeom prst="rect">
            <a:avLst/>
          </a:prstGeom>
          <a:noFill/>
        </p:spPr>
        <p:txBody>
          <a:bodyPr wrap="square" rtlCol="0">
            <a:spAutoFit/>
          </a:bodyPr>
          <a:lstStyle/>
          <a:p>
            <a:r>
              <a:rPr lang="en-IN" sz="4400" b="1" dirty="0">
                <a:latin typeface="Times New Roman" panose="02020603050405020304" pitchFamily="18" charset="0"/>
                <a:cs typeface="Times New Roman" panose="02020603050405020304" pitchFamily="18" charset="0"/>
              </a:rPr>
              <a:t>Conclusion &amp; Future Enhancements</a:t>
            </a:r>
          </a:p>
        </p:txBody>
      </p:sp>
    </p:spTree>
    <p:extLst>
      <p:ext uri="{BB962C8B-B14F-4D97-AF65-F5344CB8AC3E}">
        <p14:creationId xmlns:p14="http://schemas.microsoft.com/office/powerpoint/2010/main" val="954940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3215" y="393506"/>
            <a:ext cx="10515600" cy="1325556"/>
          </a:xfrm>
        </p:spPr>
        <p:txBody>
          <a:bodyPr/>
          <a:lstStyle/>
          <a:p>
            <a:br>
              <a:rPr>
                <a:cs typeface="Times New Roman"/>
              </a:rPr>
            </a:br>
            <a:endParaRPr>
              <a:cs typeface="Times New Roman"/>
            </a:endParaRPr>
          </a:p>
        </p:txBody>
      </p:sp>
      <p:sp>
        <p:nvSpPr>
          <p:cNvPr id="7" name="Parallelogram 6"/>
          <p:cNvSpPr/>
          <p:nvPr/>
        </p:nvSpPr>
        <p:spPr>
          <a:xfrm>
            <a:off x="353294" y="6549088"/>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sp>
        <p:nvSpPr>
          <p:cNvPr id="8" name="Parallelogram 6"/>
          <p:cNvSpPr/>
          <p:nvPr/>
        </p:nvSpPr>
        <p:spPr>
          <a:xfrm flipV="1">
            <a:off x="588480" y="56703"/>
            <a:ext cx="11398829" cy="259770"/>
          </a:xfrm>
          <a:custGeom>
            <a:avLst/>
            <a:gdLst>
              <a:gd name="connsiteX0" fmla="*/ 0 w 9996055"/>
              <a:gd name="connsiteY0" fmla="*/ 238991 h 238991"/>
              <a:gd name="connsiteX1" fmla="*/ 59748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936307 w 9996055"/>
              <a:gd name="connsiteY3" fmla="*/ 238991 h 238991"/>
              <a:gd name="connsiteX4" fmla="*/ 0 w 9996055"/>
              <a:gd name="connsiteY4" fmla="*/ 238991 h 238991"/>
              <a:gd name="connsiteX0" fmla="*/ 0 w 9996055"/>
              <a:gd name="connsiteY0" fmla="*/ 238991 h 238991"/>
              <a:gd name="connsiteX1" fmla="*/ 527339 w 9996055"/>
              <a:gd name="connsiteY1" fmla="*/ 0 h 238991"/>
              <a:gd name="connsiteX2" fmla="*/ 9996055 w 9996055"/>
              <a:gd name="connsiteY2" fmla="*/ 0 h 238991"/>
              <a:gd name="connsiteX3" fmla="*/ 9541453 w 9996055"/>
              <a:gd name="connsiteY3" fmla="*/ 238991 h 238991"/>
              <a:gd name="connsiteX4" fmla="*/ 0 w 9996055"/>
              <a:gd name="connsiteY4" fmla="*/ 238991 h 238991"/>
              <a:gd name="connsiteX0" fmla="*/ 12988 w 10009043"/>
              <a:gd name="connsiteY0" fmla="*/ 238991 h 238991"/>
              <a:gd name="connsiteX1" fmla="*/ 0 w 10009043"/>
              <a:gd name="connsiteY1" fmla="*/ 10391 h 238991"/>
              <a:gd name="connsiteX2" fmla="*/ 10009043 w 10009043"/>
              <a:gd name="connsiteY2" fmla="*/ 0 h 238991"/>
              <a:gd name="connsiteX3" fmla="*/ 9554441 w 10009043"/>
              <a:gd name="connsiteY3" fmla="*/ 238991 h 238991"/>
              <a:gd name="connsiteX4" fmla="*/ 12988 w 10009043"/>
              <a:gd name="connsiteY4" fmla="*/ 238991 h 238991"/>
              <a:gd name="connsiteX0" fmla="*/ 519208 w 10009043"/>
              <a:gd name="connsiteY0" fmla="*/ 259772 h 259772"/>
              <a:gd name="connsiteX1" fmla="*/ 0 w 10009043"/>
              <a:gd name="connsiteY1" fmla="*/ 10391 h 259772"/>
              <a:gd name="connsiteX2" fmla="*/ 10009043 w 10009043"/>
              <a:gd name="connsiteY2" fmla="*/ 0 h 259772"/>
              <a:gd name="connsiteX3" fmla="*/ 9554441 w 10009043"/>
              <a:gd name="connsiteY3" fmla="*/ 238991 h 259772"/>
              <a:gd name="connsiteX4" fmla="*/ 519208 w 10009043"/>
              <a:gd name="connsiteY4" fmla="*/ 259772 h 2597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9043" h="259772">
                <a:moveTo>
                  <a:pt x="519208" y="259772"/>
                </a:moveTo>
                <a:lnTo>
                  <a:pt x="0" y="10391"/>
                </a:lnTo>
                <a:lnTo>
                  <a:pt x="10009043" y="0"/>
                </a:lnTo>
                <a:lnTo>
                  <a:pt x="9554441" y="238991"/>
                </a:lnTo>
                <a:lnTo>
                  <a:pt x="519208" y="259772"/>
                </a:lnTo>
                <a:close/>
              </a:path>
            </a:pathLst>
          </a:custGeom>
          <a:solidFill>
            <a:schemeClr val="accent4">
              <a:lumMod val="60000"/>
              <a:lumOff val="40000"/>
            </a:schemeClr>
          </a:solidFill>
          <a:ln>
            <a:solidFill>
              <a:schemeClr val="accent4">
                <a:lumMod val="40000"/>
                <a:lumOff val="60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a:p>
        </p:txBody>
      </p:sp>
      <p:grpSp>
        <p:nvGrpSpPr>
          <p:cNvPr id="6" name="Group 5"/>
          <p:cNvGrpSpPr/>
          <p:nvPr/>
        </p:nvGrpSpPr>
        <p:grpSpPr>
          <a:xfrm>
            <a:off x="0" y="25547"/>
            <a:ext cx="1180114" cy="1304655"/>
            <a:chOff x="5449285" y="2761938"/>
            <a:chExt cx="1289977" cy="1334137"/>
          </a:xfrm>
        </p:grpSpPr>
        <p:sp>
          <p:nvSpPr>
            <p:cNvPr id="4" name="Shape 454"/>
            <p:cNvSpPr/>
            <p:nvPr/>
          </p:nvSpPr>
          <p:spPr>
            <a:xfrm>
              <a:off x="5452746" y="2761938"/>
              <a:ext cx="1286516" cy="1334137"/>
            </a:xfrm>
            <a:custGeom>
              <a:avLst/>
              <a:gdLst/>
              <a:ahLst/>
              <a:cxnLst/>
              <a:rect l="0" t="0" r="0" b="0"/>
              <a:pathLst>
                <a:path w="1286905" h="1334619">
                  <a:moveTo>
                    <a:pt x="0" y="0"/>
                  </a:moveTo>
                  <a:lnTo>
                    <a:pt x="1286905" y="0"/>
                  </a:lnTo>
                  <a:lnTo>
                    <a:pt x="1286905" y="1334619"/>
                  </a:lnTo>
                  <a:lnTo>
                    <a:pt x="0" y="1334619"/>
                  </a:lnTo>
                  <a:lnTo>
                    <a:pt x="0" y="0"/>
                  </a:lnTo>
                </a:path>
              </a:pathLst>
            </a:custGeom>
            <a:ln w="0" cap="flat">
              <a:miter lim="127000"/>
            </a:ln>
          </p:spPr>
          <p:style>
            <a:lnRef idx="0">
              <a:srgbClr val="000000">
                <a:alpha val="0"/>
              </a:srgbClr>
            </a:lnRef>
            <a:fillRef idx="1">
              <a:srgbClr val="292929"/>
            </a:fillRef>
            <a:effectRef idx="0">
              <a:scrgbClr r="0" g="0" b="0"/>
            </a:effectRef>
            <a:fontRef idx="none"/>
          </p:style>
          <p:txBody>
            <a:bodyPr/>
            <a:lstStyle/>
            <a:p>
              <a:endParaRPr/>
            </a:p>
          </p:txBody>
        </p:sp>
        <p:pic>
          <p:nvPicPr>
            <p:cNvPr id="5" name="Picture 4"/>
            <p:cNvPicPr/>
            <p:nvPr/>
          </p:nvPicPr>
          <p:blipFill rotWithShape="1">
            <a:blip r:embed="rId2"/>
            <a:srcRect l="3435" t="5682" r="9680" b="18466"/>
            <a:stretch/>
          </p:blipFill>
          <p:spPr>
            <a:xfrm>
              <a:off x="5449285" y="2761938"/>
              <a:ext cx="1286516" cy="1334137"/>
            </a:xfrm>
            <a:prstGeom prst="rect">
              <a:avLst/>
            </a:prstGeom>
          </p:spPr>
        </p:pic>
      </p:grpSp>
      <p:sp>
        <p:nvSpPr>
          <p:cNvPr id="9" name="Content Placeholder 8"/>
          <p:cNvSpPr>
            <a:spLocks noGrp="1"/>
          </p:cNvSpPr>
          <p:nvPr>
            <p:ph idx="1"/>
          </p:nvPr>
        </p:nvSpPr>
        <p:spPr>
          <a:xfrm>
            <a:off x="3951514" y="2365827"/>
            <a:ext cx="4288971" cy="1178832"/>
          </a:xfrm>
        </p:spPr>
        <p:txBody>
          <a:bodyPr>
            <a:normAutofit fontScale="92500"/>
          </a:bodyPr>
          <a:lstStyle/>
          <a:p>
            <a:pPr marL="0" indent="0">
              <a:buNone/>
            </a:pPr>
            <a:r>
              <a:rPr lang="en-IN" sz="7200" b="1" dirty="0">
                <a:latin typeface="Times New Roman" panose="02020603050405020304" pitchFamily="18" charset="0"/>
                <a:cs typeface="Times New Roman" panose="02020603050405020304" pitchFamily="18" charset="0"/>
              </a:rPr>
              <a:t>Thank You</a:t>
            </a:r>
            <a:endParaRPr sz="7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2847848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IML template" id="{A582DF50-CA20-4E39-9F6B-D62AA82E090D}" vid="{64422D4D-F908-4C3E-8895-83C3E8A2D80A}"/>
    </a:ext>
  </a:extLst>
</a:theme>
</file>

<file path=docProps/app.xml><?xml version="1.0" encoding="utf-8"?>
<Properties xmlns="http://schemas.openxmlformats.org/officeDocument/2006/extended-properties" xmlns:vt="http://schemas.openxmlformats.org/officeDocument/2006/docPropsVTypes">
  <Template>AIML template</Template>
  <TotalTime>589</TotalTime>
  <Words>592</Words>
  <Application>Microsoft Office PowerPoint</Application>
  <PresentationFormat>Widescreen</PresentationFormat>
  <Paragraphs>124</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Ajile</vt:lpstr>
      <vt:lpstr>Arial</vt:lpstr>
      <vt:lpstr>Calibri</vt:lpstr>
      <vt:lpstr>Calibri Light</vt:lpstr>
      <vt:lpstr>Cambria</vt:lpstr>
      <vt:lpstr>Times New Roman</vt:lpstr>
      <vt:lpstr>Office Theme</vt:lpstr>
      <vt:lpstr>PowerPoint Presentation</vt:lpstr>
      <vt:lpstr>Outline </vt:lpstr>
      <vt:lpstr> </vt:lpstr>
      <vt:lpstr> </vt:lpstr>
      <vt:lpstr>PowerPoint Presentation</vt:lpstr>
      <vt:lpstr> </vt:lpstr>
      <vt:lpstr>Frontend Overview</vt:lpstr>
      <vt:lpstr> </vt:lpstr>
      <vt:lpstr> </vt:lpstr>
      <vt:lpstr> </vt:lpstr>
      <vt:lpstr> </vt:lpstr>
      <vt:lpstr> </vt:lpstr>
      <vt:lpstr> </vt:lpstr>
      <vt:lpstr> </vt:lpstr>
      <vt:lpst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RCPIT</dc:creator>
  <cp:lastModifiedBy>sanikamahajan2006@outlook.com</cp:lastModifiedBy>
  <cp:revision>28</cp:revision>
  <dcterms:created xsi:type="dcterms:W3CDTF">2023-11-04T09:41:24Z</dcterms:created>
  <dcterms:modified xsi:type="dcterms:W3CDTF">2025-12-28T16:54:14Z</dcterms:modified>
</cp:coreProperties>
</file>